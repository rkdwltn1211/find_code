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1" r:id="rId1"/>
  </p:sldMasterIdLst>
  <p:notesMasterIdLst>
    <p:notesMasterId r:id="rId2"/>
  </p:notesMasterIdLst>
  <p:sldIdLst>
    <p:sldId id="256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5" r:id="rId14"/>
    <p:sldId id="269" r:id="rId15"/>
    <p:sldId id="267" r:id="rId16"/>
    <p:sldId id="270" r:id="rId17"/>
    <p:sldId id="27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88536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4"/>
        <p:guide pos="2154"/>
      </p:guideLst>
    </p:cSldViewPr>
  </p:notes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487505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3531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126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3260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4424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3226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02102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3083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35453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48223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5332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23206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9962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5165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35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가로 글상자 2"/>
          <p:cNvSpPr txBox="1"/>
          <p:nvPr/>
        </p:nvSpPr>
        <p:spPr>
          <a:xfrm>
            <a:off x="429430" y="837876"/>
            <a:ext cx="7754831" cy="142716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lvl="0">
              <a:defRPr/>
            </a:pPr>
            <a:r>
              <a:rPr lang="en-US" altLang="ko-KR" sz="4400" b="1">
                <a:solidFill>
                  <a:schemeClr val="tx1"/>
                </a:solidFill>
              </a:rPr>
              <a:t>DevTools</a:t>
            </a:r>
            <a:r>
              <a:rPr lang="ko-KR" altLang="en-US" sz="4400" b="1">
                <a:solidFill>
                  <a:schemeClr val="tx1"/>
                </a:solidFill>
              </a:rPr>
              <a:t> 기반 </a:t>
            </a:r>
            <a:endParaRPr lang="ko-KR" altLang="en-US" sz="4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4400" b="1">
                <a:solidFill>
                  <a:schemeClr val="tx1"/>
                </a:solidFill>
              </a:rPr>
              <a:t>실시간 악성 행위 탐지 시스템</a:t>
            </a:r>
            <a:endParaRPr lang="ko-KR" altLang="en-US" sz="4400" b="1">
              <a:solidFill>
                <a:schemeClr val="tx1"/>
              </a:solidFill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429430" y="2807453"/>
            <a:ext cx="5868370" cy="63869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DevTools</a:t>
            </a:r>
            <a:r>
              <a:rPr lang="ko-KR" altLang="en-US"/>
              <a:t> 기반 실시간 트래픽 분석과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머신러닝을 활용한 사용자 경고 시스템</a:t>
            </a:r>
            <a:endParaRPr lang="ko-KR" altLang="en-US"/>
          </a:p>
        </p:txBody>
      </p:sp>
      <p:cxnSp>
        <p:nvCxnSpPr>
          <p:cNvPr id="6" name="선 5"/>
          <p:cNvCxnSpPr/>
          <p:nvPr/>
        </p:nvCxnSpPr>
        <p:spPr>
          <a:xfrm flipV="1">
            <a:off x="179199" y="2420874"/>
            <a:ext cx="8509125" cy="15265"/>
          </a:xfrm>
          <a:prstGeom prst="line">
            <a:avLst/>
          </a:prstGeom>
          <a:ln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가로 글상자 6"/>
          <p:cNvSpPr txBox="1"/>
          <p:nvPr/>
        </p:nvSpPr>
        <p:spPr>
          <a:xfrm>
            <a:off x="8099534" y="5522857"/>
            <a:ext cx="3251638" cy="36168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DATE : 2026-01-21 ~ 2026-01-28</a:t>
            </a:r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3465130" cy="575691"/>
          </a:xfrm>
          <a:prstGeom prst="rect">
            <a:avLst/>
          </a:prstGeom>
        </p:spPr>
        <p:txBody>
          <a:bodyPr wrap="square" lIns="72009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203a7b"/>
                </a:solidFill>
              </a:rPr>
              <a:t>팀원 소개</a:t>
            </a:r>
            <a:endParaRPr lang="ko-KR" altLang="en-US" sz="3200" b="1">
              <a:solidFill>
                <a:srgbClr val="203a7b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2269575" y="678245"/>
            <a:ext cx="7800649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29052" y="2000250"/>
            <a:ext cx="1894636" cy="2880360"/>
          </a:xfrm>
          <a:prstGeom prst="rect">
            <a:avLst/>
          </a:prstGeom>
        </p:spPr>
      </p:pic>
      <p:pic>
        <p:nvPicPr>
          <p:cNvPr id="5" name="Picture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46144" y="2000250"/>
            <a:ext cx="1894636" cy="288036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rcRect l="11860" t="1980" r="10380" b="24150"/>
          <a:stretch>
            <a:fillRect/>
          </a:stretch>
        </p:blipFill>
        <p:spPr>
          <a:xfrm>
            <a:off x="8129094" y="1814676"/>
            <a:ext cx="2240018" cy="3064423"/>
          </a:xfrm>
          <a:prstGeom prst="rect">
            <a:avLst/>
          </a:prstGeom>
        </p:spPr>
      </p:pic>
      <p:sp>
        <p:nvSpPr>
          <p:cNvPr id="12" name="순서도: 대체 처리 11"/>
          <p:cNvSpPr/>
          <p:nvPr/>
        </p:nvSpPr>
        <p:spPr>
          <a:xfrm>
            <a:off x="1478674" y="5046609"/>
            <a:ext cx="1510861" cy="426982"/>
          </a:xfrm>
          <a:prstGeom prst="flowChartAlternateProcess">
            <a:avLst/>
          </a:prstGeom>
          <a:solidFill>
            <a:srgbClr val="203a7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lvl="0" algn="ctr">
              <a:defRPr/>
            </a:pPr>
            <a:r>
              <a:rPr lang="ko-KR" altLang="en-US" sz="2200" b="1">
                <a:solidFill>
                  <a:srgbClr val="ffffff"/>
                </a:solidFill>
              </a:rPr>
              <a:t>장성우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3" name="순서도: 대체 처리 12"/>
          <p:cNvSpPr/>
          <p:nvPr/>
        </p:nvSpPr>
        <p:spPr>
          <a:xfrm>
            <a:off x="4976648" y="5030184"/>
            <a:ext cx="1510861" cy="426982"/>
          </a:xfrm>
          <a:prstGeom prst="flowChartAlternateProcess">
            <a:avLst/>
          </a:prstGeom>
          <a:solidFill>
            <a:srgbClr val="203a7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강지수</a:t>
            </a:r>
            <a:endParaRPr lang="ko-KR" altLang="en-US" sz="2200" b="1">
              <a:solidFill>
                <a:schemeClr val="lt1"/>
              </a:solidFill>
            </a:endParaRPr>
          </a:p>
        </p:txBody>
      </p:sp>
      <p:sp>
        <p:nvSpPr>
          <p:cNvPr id="14" name="순서도: 대체 처리 13"/>
          <p:cNvSpPr/>
          <p:nvPr/>
        </p:nvSpPr>
        <p:spPr>
          <a:xfrm>
            <a:off x="8608629" y="5013762"/>
            <a:ext cx="1510861" cy="426982"/>
          </a:xfrm>
          <a:prstGeom prst="flowChartAlternateProcess">
            <a:avLst/>
          </a:prstGeom>
          <a:solidFill>
            <a:srgbClr val="203a7b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강대규</a:t>
            </a:r>
            <a:endParaRPr lang="ko-KR" altLang="en-US" sz="2200" b="1">
              <a:solidFill>
                <a:schemeClr val="lt1"/>
              </a:solidFill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1087163" y="5580336"/>
            <a:ext cx="2414094" cy="36135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/>
          </a:p>
        </p:txBody>
      </p:sp>
      <p:sp>
        <p:nvSpPr>
          <p:cNvPr id="18" name="가로 글상자 17"/>
          <p:cNvSpPr txBox="1"/>
          <p:nvPr/>
        </p:nvSpPr>
        <p:spPr>
          <a:xfrm>
            <a:off x="506466" y="5597940"/>
            <a:ext cx="3657600" cy="10629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sz="1600">
                <a:latin typeface="맑은 고딕"/>
              </a:rPr>
              <a:t>• 트래픽 로그 전처리 및 데이터 구성</a:t>
            </a:r>
            <a:endParaRPr lang="ko-KR" sz="1600">
              <a:latin typeface="맑은 고딕"/>
            </a:endParaRPr>
          </a:p>
          <a:p>
            <a:pPr lvl="0">
              <a:defRPr/>
            </a:pPr>
            <a:r>
              <a:rPr lang="ko-KR" sz="1600">
                <a:latin typeface="맑은 고딕"/>
              </a:rPr>
              <a:t>• Rule 기반 weak labeling 설계</a:t>
            </a:r>
            <a:endParaRPr lang="ko-KR" sz="1600">
              <a:latin typeface="맑은 고딕"/>
            </a:endParaRPr>
          </a:p>
          <a:p>
            <a:pPr lvl="0">
              <a:defRPr/>
            </a:pPr>
            <a:r>
              <a:rPr lang="ko-KR" sz="1600">
                <a:latin typeface="맑은 고딕"/>
              </a:rPr>
              <a:t>• 학습/평가 데이터 분리 및 관리</a:t>
            </a:r>
            <a:endParaRPr lang="ko-KR" sz="1600">
              <a:latin typeface="맑은 고딕"/>
            </a:endParaRPr>
          </a:p>
          <a:p>
            <a:pPr lvl="0">
              <a:defRPr/>
            </a:pPr>
            <a:endParaRPr lang="ko-KR" sz="1600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7802946" y="5566806"/>
            <a:ext cx="3943350" cy="82256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sz="1600">
                <a:latin typeface="맑은 고딕"/>
              </a:rPr>
              <a:t>• Chrome DevTools 기반 트래픽 수집</a:t>
            </a:r>
            <a:endParaRPr lang="ko-KR" sz="1600">
              <a:latin typeface="맑은 고딕"/>
            </a:endParaRPr>
          </a:p>
          <a:p>
            <a:pPr lvl="0">
              <a:defRPr/>
            </a:pPr>
            <a:r>
              <a:rPr lang="ko-KR" sz="1600">
                <a:latin typeface="맑은 고딕"/>
              </a:rPr>
              <a:t>• 실시간 스캔 로직 구현</a:t>
            </a:r>
            <a:endParaRPr lang="ko-KR" sz="1600">
              <a:latin typeface="맑은 고딕"/>
            </a:endParaRPr>
          </a:p>
          <a:p>
            <a:pPr lvl="0">
              <a:defRPr/>
            </a:pPr>
            <a:r>
              <a:rPr lang="ko-KR" sz="1600">
                <a:latin typeface="맑은 고딕"/>
              </a:rPr>
              <a:t>• 임계값 초과 시 사용자 경고 알림 구현</a:t>
            </a:r>
            <a:endParaRPr lang="ko-KR"/>
          </a:p>
        </p:txBody>
      </p:sp>
      <p:sp>
        <p:nvSpPr>
          <p:cNvPr id="20" name="가로 글상자 19"/>
          <p:cNvSpPr txBox="1"/>
          <p:nvPr/>
        </p:nvSpPr>
        <p:spPr>
          <a:xfrm>
            <a:off x="4274589" y="5562994"/>
            <a:ext cx="3215839" cy="10618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sz="1600">
                <a:latin typeface="맑은 고딕"/>
              </a:rPr>
              <a:t>• 트래픽 feature 설계 및 정의</a:t>
            </a:r>
            <a:endParaRPr lang="ko-KR" sz="1600">
              <a:latin typeface="맑은 고딕"/>
            </a:endParaRPr>
          </a:p>
          <a:p>
            <a:pPr lvl="0">
              <a:defRPr/>
            </a:pPr>
            <a:r>
              <a:rPr lang="ko-KR" sz="1600">
                <a:latin typeface="맑은 고딕"/>
              </a:rPr>
              <a:t>• Logistic Regression / Random Forest 모델 학습</a:t>
            </a:r>
            <a:endParaRPr lang="ko-KR" sz="1600">
              <a:latin typeface="맑은 고딕"/>
            </a:endParaRPr>
          </a:p>
          <a:p>
            <a:pPr lvl="0">
              <a:defRPr/>
            </a:pPr>
            <a:r>
              <a:rPr lang="ko-KR" sz="1600">
                <a:latin typeface="맑은 고딕"/>
              </a:rPr>
              <a:t>• 성능 평가 및 모델 비교 분석</a:t>
            </a:r>
            <a:endParaRPr lang="ko-KR" sz="160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9195652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선 1"/>
          <p:cNvCxnSpPr/>
          <p:nvPr/>
        </p:nvCxnSpPr>
        <p:spPr>
          <a:xfrm rot="16200000" flipH="1" flipV="1">
            <a:off x="-275769" y="2363490"/>
            <a:ext cx="2131018" cy="1"/>
          </a:xfrm>
          <a:prstGeom prst="line">
            <a:avLst/>
          </a:prstGeom>
          <a:ln w="28575">
            <a:solidFill>
              <a:srgbClr val="d3d3e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선 2"/>
          <p:cNvCxnSpPr/>
          <p:nvPr/>
        </p:nvCxnSpPr>
        <p:spPr>
          <a:xfrm rot="16200000" flipH="1" flipV="1">
            <a:off x="-275768" y="4969300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선 6"/>
          <p:cNvCxnSpPr/>
          <p:nvPr/>
        </p:nvCxnSpPr>
        <p:spPr>
          <a:xfrm rot="16200000" flipH="1" flipV="1">
            <a:off x="2560948" y="2363490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선 7"/>
          <p:cNvCxnSpPr/>
          <p:nvPr/>
        </p:nvCxnSpPr>
        <p:spPr>
          <a:xfrm rot="16200000" flipH="1" flipV="1">
            <a:off x="5426530" y="2363491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선 8"/>
          <p:cNvCxnSpPr/>
          <p:nvPr/>
        </p:nvCxnSpPr>
        <p:spPr>
          <a:xfrm rot="16200000" flipH="1" flipV="1">
            <a:off x="8320970" y="2363491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선 9"/>
          <p:cNvCxnSpPr/>
          <p:nvPr/>
        </p:nvCxnSpPr>
        <p:spPr>
          <a:xfrm rot="16200000" flipH="1" flipV="1">
            <a:off x="2560949" y="4969300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선 10"/>
          <p:cNvCxnSpPr/>
          <p:nvPr/>
        </p:nvCxnSpPr>
        <p:spPr>
          <a:xfrm rot="16200000" flipH="1" flipV="1">
            <a:off x="5426529" y="4969300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선 11"/>
          <p:cNvCxnSpPr/>
          <p:nvPr/>
        </p:nvCxnSpPr>
        <p:spPr>
          <a:xfrm rot="16200000" flipH="1" flipV="1">
            <a:off x="8320972" y="4969301"/>
            <a:ext cx="2131018" cy="1"/>
          </a:xfrm>
          <a:prstGeom prst="line">
            <a:avLst/>
          </a:prstGeom>
          <a:ln w="28575"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가로 글상자 12"/>
          <p:cNvSpPr txBox="1"/>
          <p:nvPr/>
        </p:nvSpPr>
        <p:spPr>
          <a:xfrm>
            <a:off x="1156086" y="1297981"/>
            <a:ext cx="1551211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01.</a:t>
            </a:r>
            <a:endParaRPr lang="ko-KR" altLang="en-US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1156086" y="3903792"/>
            <a:ext cx="1551211" cy="7520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</a:rPr>
              <a:t>02.</a:t>
            </a:r>
            <a:endParaRPr lang="en-US" altLang="ko-KR" sz="4400">
              <a:solidFill>
                <a:srgbClr val="2b2d63"/>
              </a:solidFill>
            </a:endParaRPr>
          </a:p>
        </p:txBody>
      </p:sp>
      <p:cxnSp>
        <p:nvCxnSpPr>
          <p:cNvPr id="15" name="선 14"/>
          <p:cNvCxnSpPr>
            <a:endCxn id="13" idx="2"/>
          </p:cNvCxnSpPr>
          <p:nvPr/>
        </p:nvCxnSpPr>
        <p:spPr>
          <a:xfrm>
            <a:off x="1156086" y="2055495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가로 글상자 15"/>
          <p:cNvSpPr txBox="1"/>
          <p:nvPr/>
        </p:nvSpPr>
        <p:spPr>
          <a:xfrm>
            <a:off x="1156086" y="4969300"/>
            <a:ext cx="2377322" cy="6961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000"/>
              <a:t>악성코드 탐지 문제 정의</a:t>
            </a:r>
            <a:endParaRPr lang="ko-KR" altLang="en-US" sz="2000"/>
          </a:p>
        </p:txBody>
      </p:sp>
      <p:cxnSp>
        <p:nvCxnSpPr>
          <p:cNvPr id="18" name="선 17"/>
          <p:cNvCxnSpPr/>
          <p:nvPr/>
        </p:nvCxnSpPr>
        <p:spPr>
          <a:xfrm>
            <a:off x="1156086" y="4655820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가로 글상자 18"/>
          <p:cNvSpPr txBox="1"/>
          <p:nvPr/>
        </p:nvSpPr>
        <p:spPr>
          <a:xfrm>
            <a:off x="3990139" y="1297981"/>
            <a:ext cx="1551211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03.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3990139" y="3903792"/>
            <a:ext cx="1551211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04.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1" name="가로 글상자 20"/>
          <p:cNvSpPr txBox="1"/>
          <p:nvPr/>
        </p:nvSpPr>
        <p:spPr>
          <a:xfrm>
            <a:off x="6795685" y="1297982"/>
            <a:ext cx="1152893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05.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2" name="가로 글상자 21"/>
          <p:cNvSpPr txBox="1"/>
          <p:nvPr/>
        </p:nvSpPr>
        <p:spPr>
          <a:xfrm>
            <a:off x="6795685" y="3898306"/>
            <a:ext cx="1152893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06.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3" name="가로 글상자 22"/>
          <p:cNvSpPr txBox="1"/>
          <p:nvPr/>
        </p:nvSpPr>
        <p:spPr>
          <a:xfrm>
            <a:off x="9774412" y="1297982"/>
            <a:ext cx="1551211" cy="757513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07.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4" name="가로 글상자 23"/>
          <p:cNvSpPr txBox="1"/>
          <p:nvPr/>
        </p:nvSpPr>
        <p:spPr>
          <a:xfrm>
            <a:off x="9774412" y="3903792"/>
            <a:ext cx="1551211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08.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6" name="가로 글상자 25"/>
          <p:cNvSpPr txBox="1"/>
          <p:nvPr/>
        </p:nvSpPr>
        <p:spPr>
          <a:xfrm>
            <a:off x="9774412" y="1297982"/>
            <a:ext cx="1551211" cy="75751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>
                <a:solidFill>
                  <a:srgbClr val="2b2d63"/>
                </a:solidFill>
                <a:latin typeface="맑은 고딕"/>
              </a:rPr>
              <a:t>07.</a:t>
            </a:r>
            <a:endParaRPr lang="en-US" altLang="ko-KR" sz="4400">
              <a:solidFill>
                <a:srgbClr val="2b2d63"/>
              </a:solidFill>
              <a:latin typeface="맑은 고딕"/>
            </a:endParaRPr>
          </a:p>
        </p:txBody>
      </p:sp>
      <p:sp>
        <p:nvSpPr>
          <p:cNvPr id="27" name="가로 글상자 26"/>
          <p:cNvSpPr txBox="1"/>
          <p:nvPr/>
        </p:nvSpPr>
        <p:spPr>
          <a:xfrm>
            <a:off x="1156086" y="2363491"/>
            <a:ext cx="2377322" cy="692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프로젝트 배경 </a:t>
            </a:r>
            <a:endParaRPr lang="ko-KR" altLang="en-US" sz="2000"/>
          </a:p>
          <a:p>
            <a:pPr lvl="0">
              <a:defRPr/>
            </a:pPr>
            <a:r>
              <a:rPr lang="ko-KR" altLang="en-US" sz="2000"/>
              <a:t>및 목적</a:t>
            </a:r>
            <a:endParaRPr lang="ko-KR" altLang="en-US" sz="2000"/>
          </a:p>
        </p:txBody>
      </p:sp>
      <p:sp>
        <p:nvSpPr>
          <p:cNvPr id="28" name="가로 글상자 27"/>
          <p:cNvSpPr txBox="1"/>
          <p:nvPr/>
        </p:nvSpPr>
        <p:spPr>
          <a:xfrm>
            <a:off x="3990139" y="2363491"/>
            <a:ext cx="2377322" cy="692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데이터 수집 및 전처리</a:t>
            </a:r>
            <a:endParaRPr lang="ko-KR" altLang="en-US" sz="2000"/>
          </a:p>
        </p:txBody>
      </p:sp>
      <p:sp>
        <p:nvSpPr>
          <p:cNvPr id="29" name="가로 글상자 28"/>
          <p:cNvSpPr txBox="1"/>
          <p:nvPr/>
        </p:nvSpPr>
        <p:spPr>
          <a:xfrm>
            <a:off x="3990139" y="4969300"/>
            <a:ext cx="2377322" cy="391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모델 설계 및 학습</a:t>
            </a:r>
            <a:endParaRPr lang="ko-KR" altLang="en-US" sz="2000"/>
          </a:p>
        </p:txBody>
      </p:sp>
      <p:sp>
        <p:nvSpPr>
          <p:cNvPr id="30" name="가로 글상자 29"/>
          <p:cNvSpPr txBox="1"/>
          <p:nvPr/>
        </p:nvSpPr>
        <p:spPr>
          <a:xfrm>
            <a:off x="6759917" y="4969301"/>
            <a:ext cx="2377322" cy="696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실험 결과 및 성능 평가</a:t>
            </a:r>
            <a:endParaRPr lang="ko-KR" altLang="en-US" sz="2000"/>
          </a:p>
        </p:txBody>
      </p:sp>
      <p:sp>
        <p:nvSpPr>
          <p:cNvPr id="31" name="가로 글상자 30"/>
          <p:cNvSpPr txBox="1"/>
          <p:nvPr/>
        </p:nvSpPr>
        <p:spPr>
          <a:xfrm>
            <a:off x="9774412" y="4969301"/>
            <a:ext cx="2169504" cy="696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한계점 및 향후 </a:t>
            </a:r>
            <a:endParaRPr lang="ko-KR" altLang="en-US" sz="2000"/>
          </a:p>
          <a:p>
            <a:pPr lvl="0">
              <a:defRPr/>
            </a:pPr>
            <a:r>
              <a:rPr lang="ko-KR" altLang="en-US" sz="2000"/>
              <a:t>연구 방향</a:t>
            </a:r>
            <a:endParaRPr lang="ko-KR" altLang="en-US" sz="2000"/>
          </a:p>
        </p:txBody>
      </p:sp>
      <p:sp>
        <p:nvSpPr>
          <p:cNvPr id="32" name="가로 글상자 31"/>
          <p:cNvSpPr txBox="1"/>
          <p:nvPr/>
        </p:nvSpPr>
        <p:spPr>
          <a:xfrm>
            <a:off x="9774412" y="2359452"/>
            <a:ext cx="2169504" cy="391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결과 및 시사점</a:t>
            </a:r>
            <a:endParaRPr lang="ko-KR" altLang="en-US" sz="2000"/>
          </a:p>
        </p:txBody>
      </p:sp>
      <p:sp>
        <p:nvSpPr>
          <p:cNvPr id="33" name="가로 글상자 32"/>
          <p:cNvSpPr txBox="1"/>
          <p:nvPr/>
        </p:nvSpPr>
        <p:spPr>
          <a:xfrm>
            <a:off x="6795685" y="2359452"/>
            <a:ext cx="2169504" cy="391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/>
              <a:t>특징 추출 및 분석</a:t>
            </a:r>
            <a:endParaRPr lang="ko-KR" altLang="en-US" sz="2000"/>
          </a:p>
        </p:txBody>
      </p:sp>
      <p:cxnSp>
        <p:nvCxnSpPr>
          <p:cNvPr id="34" name="선 33"/>
          <p:cNvCxnSpPr/>
          <p:nvPr/>
        </p:nvCxnSpPr>
        <p:spPr>
          <a:xfrm>
            <a:off x="3990139" y="2055496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선 34"/>
          <p:cNvCxnSpPr/>
          <p:nvPr/>
        </p:nvCxnSpPr>
        <p:spPr>
          <a:xfrm>
            <a:off x="6759917" y="2055495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선 35"/>
          <p:cNvCxnSpPr/>
          <p:nvPr/>
        </p:nvCxnSpPr>
        <p:spPr>
          <a:xfrm>
            <a:off x="9774412" y="2055496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선 36"/>
          <p:cNvCxnSpPr/>
          <p:nvPr/>
        </p:nvCxnSpPr>
        <p:spPr>
          <a:xfrm>
            <a:off x="3990139" y="4655820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선 37"/>
          <p:cNvCxnSpPr/>
          <p:nvPr/>
        </p:nvCxnSpPr>
        <p:spPr>
          <a:xfrm>
            <a:off x="6795685" y="4655820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선 38"/>
          <p:cNvCxnSpPr/>
          <p:nvPr/>
        </p:nvCxnSpPr>
        <p:spPr>
          <a:xfrm>
            <a:off x="9774412" y="4655820"/>
            <a:ext cx="775605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가로 글상자 39"/>
          <p:cNvSpPr txBox="1"/>
          <p:nvPr/>
        </p:nvSpPr>
        <p:spPr>
          <a:xfrm>
            <a:off x="252031" y="432054"/>
            <a:ext cx="1141953" cy="63565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600" b="1">
                <a:solidFill>
                  <a:schemeClr val="dk2"/>
                </a:solidFill>
              </a:rPr>
              <a:t>목차</a:t>
            </a:r>
            <a:endParaRPr lang="ko-KR" altLang="en-US" sz="36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4658319" cy="6423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chemeClr val="dk2"/>
                </a:solidFill>
              </a:rPr>
              <a:t>프로젝트 배경 및 목적</a:t>
            </a:r>
            <a:r>
              <a:rPr lang="ko-KR" altLang="en-US" sz="3600">
                <a:solidFill>
                  <a:schemeClr val="dk2"/>
                </a:solidFill>
              </a:rPr>
              <a:t> </a:t>
            </a:r>
            <a:endParaRPr lang="ko-KR" altLang="en-US" sz="3600">
              <a:solidFill>
                <a:schemeClr val="dk2"/>
              </a:solidFill>
            </a:endParaRPr>
          </a:p>
        </p:txBody>
      </p:sp>
      <p:sp>
        <p:nvSpPr>
          <p:cNvPr id="3" name="모서리가 둥근 직사각형 2"/>
          <p:cNvSpPr>
            <a:spLocks noChangeAspect="1"/>
          </p:cNvSpPr>
          <p:nvPr/>
        </p:nvSpPr>
        <p:spPr>
          <a:xfrm>
            <a:off x="803165" y="2234552"/>
            <a:ext cx="2044043" cy="238889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d3d3eb"/>
            </a:solidFill>
          </a:ln>
          <a:effectLst>
            <a:outerShdw blurRad="76200" dist="762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endParaRPr lang="ko-KR" altLang="en-US"/>
          </a:p>
        </p:txBody>
      </p:sp>
      <p:sp>
        <p:nvSpPr>
          <p:cNvPr id="4" name="모서리가 둥근 직사각형 3"/>
          <p:cNvSpPr>
            <a:spLocks noChangeAspect="1"/>
          </p:cNvSpPr>
          <p:nvPr/>
        </p:nvSpPr>
        <p:spPr>
          <a:xfrm>
            <a:off x="3650374" y="2234552"/>
            <a:ext cx="2044043" cy="238889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d3d3eb"/>
            </a:solidFill>
          </a:ln>
          <a:effectLst>
            <a:outerShdw blurRad="76200" dist="762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모서리가 둥근 직사각형 4"/>
          <p:cNvSpPr>
            <a:spLocks noChangeAspect="1"/>
          </p:cNvSpPr>
          <p:nvPr/>
        </p:nvSpPr>
        <p:spPr>
          <a:xfrm>
            <a:off x="6497583" y="2234552"/>
            <a:ext cx="2044043" cy="238889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d3d3eb"/>
            </a:solidFill>
          </a:ln>
          <a:effectLst>
            <a:outerShdw blurRad="76200" dist="762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/>
              <a:t>크롤링·봇 등 비정상 접근 증가로 탐지 난이도 상승</a:t>
            </a:r>
            <a:endParaRPr lang="ko-KR" altLang="en-US"/>
          </a:p>
        </p:txBody>
      </p:sp>
      <p:sp>
        <p:nvSpPr>
          <p:cNvPr id="6" name="모서리가 둥근 직사각형 5"/>
          <p:cNvSpPr>
            <a:spLocks noChangeAspect="1"/>
          </p:cNvSpPr>
          <p:nvPr/>
        </p:nvSpPr>
        <p:spPr>
          <a:xfrm>
            <a:off x="9344791" y="2234552"/>
            <a:ext cx="2044043" cy="238889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d3d3eb"/>
            </a:solidFill>
          </a:ln>
          <a:effectLst>
            <a:outerShdw blurRad="42484" dist="762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" name="가로 글상자 13"/>
          <p:cNvSpPr txBox="1"/>
          <p:nvPr/>
        </p:nvSpPr>
        <p:spPr>
          <a:xfrm>
            <a:off x="3875983" y="3246063"/>
            <a:ext cx="1510694" cy="1057332"/>
          </a:xfrm>
          <a:prstGeom prst="rect">
            <a:avLst/>
          </a:prstGeom>
        </p:spPr>
        <p:txBody>
          <a:bodyPr wrap="square">
            <a:spAutoFit/>
          </a:bodyPr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크롤링·봇 증가</a:t>
            </a:r>
            <a:endParaRPr lang="ko-KR" altLang="en-US" sz="1600"/>
          </a:p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탐지 난이도 상승</a:t>
            </a:r>
            <a:endParaRPr lang="ko-KR" altLang="en-US" sz="1600"/>
          </a:p>
        </p:txBody>
      </p:sp>
      <p:sp>
        <p:nvSpPr>
          <p:cNvPr id="16" name="가로 글상자 15"/>
          <p:cNvSpPr txBox="1"/>
          <p:nvPr/>
        </p:nvSpPr>
        <p:spPr>
          <a:xfrm>
            <a:off x="1000997" y="3243049"/>
            <a:ext cx="1743304" cy="1098446"/>
          </a:xfrm>
          <a:prstGeom prst="rect">
            <a:avLst/>
          </a:prstGeom>
        </p:spPr>
        <p:txBody>
          <a:bodyPr wrap="square">
            <a:spAutoFit/>
          </a:bodyPr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정상 사용자 트래픽</a:t>
            </a:r>
            <a:endParaRPr lang="ko-KR" altLang="en-US" sz="1600"/>
          </a:p>
          <a:p>
            <a:pPr marL="228480" lvl="0" indent="-228480">
              <a:buFont typeface="Arial"/>
              <a:buChar char="•"/>
              <a:defRPr/>
            </a:pPr>
            <a:r>
              <a:rPr lang="ko-KR" altLang="en-US" sz="1700"/>
              <a:t>자동화·악성 트래픽 혼재</a:t>
            </a:r>
            <a:endParaRPr lang="ko-KR" altLang="en-US" sz="1700"/>
          </a:p>
        </p:txBody>
      </p:sp>
      <p:sp>
        <p:nvSpPr>
          <p:cNvPr id="19" name="가로 글상자 18"/>
          <p:cNvSpPr txBox="1"/>
          <p:nvPr/>
        </p:nvSpPr>
        <p:spPr>
          <a:xfrm>
            <a:off x="6676156" y="3243049"/>
            <a:ext cx="1510694" cy="10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트래픽 로그 기반</a:t>
            </a:r>
            <a:endParaRPr lang="ko-KR" altLang="en-US" sz="1600"/>
          </a:p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통계적 feature 활용</a:t>
            </a:r>
            <a:endParaRPr lang="ko-KR" altLang="en-US" sz="1600"/>
          </a:p>
        </p:txBody>
      </p:sp>
      <p:sp>
        <p:nvSpPr>
          <p:cNvPr id="20" name="가로 글상자 19"/>
          <p:cNvSpPr txBox="1"/>
          <p:nvPr/>
        </p:nvSpPr>
        <p:spPr>
          <a:xfrm>
            <a:off x="9619245" y="3248024"/>
            <a:ext cx="1510694" cy="1055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행위 요약 기반</a:t>
            </a:r>
            <a:endParaRPr lang="ko-KR" altLang="en-US" sz="1600"/>
          </a:p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/>
              <a:t>의심 트래픽 탐지</a:t>
            </a:r>
            <a:endParaRPr lang="ko-KR" altLang="en-US" sz="1600"/>
          </a:p>
        </p:txBody>
      </p:sp>
      <p:sp>
        <p:nvSpPr>
          <p:cNvPr id="28" name="순서도: 대체 처리 27"/>
          <p:cNvSpPr/>
          <p:nvPr/>
        </p:nvSpPr>
        <p:spPr>
          <a:xfrm>
            <a:off x="1000997" y="2465424"/>
            <a:ext cx="1580193" cy="398721"/>
          </a:xfrm>
          <a:prstGeom prst="flowChartAlternateProcess">
            <a:avLst/>
          </a:prstGeom>
          <a:solidFill>
            <a:srgbClr val="dfe6f7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4" name="순서도: 대체 처리 43"/>
          <p:cNvSpPr/>
          <p:nvPr/>
        </p:nvSpPr>
        <p:spPr>
          <a:xfrm>
            <a:off x="3841234" y="2465424"/>
            <a:ext cx="1580193" cy="398721"/>
          </a:xfrm>
          <a:prstGeom prst="flowChartAlternateProcess">
            <a:avLst/>
          </a:prstGeom>
          <a:solidFill>
            <a:srgbClr val="dfe6f7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5" name="순서도: 대체 처리 44"/>
          <p:cNvSpPr/>
          <p:nvPr/>
        </p:nvSpPr>
        <p:spPr>
          <a:xfrm>
            <a:off x="6729507" y="2465424"/>
            <a:ext cx="1580193" cy="398721"/>
          </a:xfrm>
          <a:prstGeom prst="flowChartAlternateProcess">
            <a:avLst/>
          </a:prstGeom>
          <a:solidFill>
            <a:srgbClr val="dfe6f7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6" name="순서도: 대체 처리 45"/>
          <p:cNvSpPr/>
          <p:nvPr/>
        </p:nvSpPr>
        <p:spPr>
          <a:xfrm>
            <a:off x="9619246" y="2465424"/>
            <a:ext cx="1580193" cy="398721"/>
          </a:xfrm>
          <a:prstGeom prst="flowChartAlternateProcess">
            <a:avLst/>
          </a:prstGeom>
          <a:solidFill>
            <a:srgbClr val="dfe6f7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7" name="가로 글상자 46"/>
          <p:cNvSpPr txBox="1"/>
          <p:nvPr/>
        </p:nvSpPr>
        <p:spPr>
          <a:xfrm>
            <a:off x="1486628" y="2483655"/>
            <a:ext cx="677117" cy="36241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배경</a:t>
            </a:r>
            <a:endParaRPr lang="ko-KR" altLang="en-US"/>
          </a:p>
        </p:txBody>
      </p:sp>
      <p:sp>
        <p:nvSpPr>
          <p:cNvPr id="48" name="가로 글상자 47"/>
          <p:cNvSpPr txBox="1"/>
          <p:nvPr/>
        </p:nvSpPr>
        <p:spPr>
          <a:xfrm>
            <a:off x="4336144" y="2465424"/>
            <a:ext cx="672503" cy="36226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문제</a:t>
            </a:r>
            <a:endParaRPr lang="ko-KR" altLang="en-US"/>
          </a:p>
        </p:txBody>
      </p:sp>
      <p:sp>
        <p:nvSpPr>
          <p:cNvPr id="50" name="가로 글상자 49"/>
          <p:cNvSpPr txBox="1"/>
          <p:nvPr/>
        </p:nvSpPr>
        <p:spPr>
          <a:xfrm>
            <a:off x="6955171" y="2465424"/>
            <a:ext cx="1128865" cy="36226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접근방식</a:t>
            </a:r>
            <a:endParaRPr lang="ko-KR" altLang="en-US"/>
          </a:p>
        </p:txBody>
      </p:sp>
      <p:sp>
        <p:nvSpPr>
          <p:cNvPr id="52" name="가로 글상자 51"/>
          <p:cNvSpPr txBox="1"/>
          <p:nvPr/>
        </p:nvSpPr>
        <p:spPr>
          <a:xfrm>
            <a:off x="10072223" y="2501885"/>
            <a:ext cx="674241" cy="36226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목표</a:t>
            </a:r>
            <a:endParaRPr lang="ko-KR" altLang="en-US"/>
          </a:p>
        </p:txBody>
      </p:sp>
      <p:cxnSp>
        <p:nvCxnSpPr>
          <p:cNvPr id="53" name="선 52"/>
          <p:cNvCxnSpPr/>
          <p:nvPr/>
        </p:nvCxnSpPr>
        <p:spPr>
          <a:xfrm>
            <a:off x="4557692" y="753237"/>
            <a:ext cx="7052689" cy="0"/>
          </a:xfrm>
          <a:prstGeom prst="line">
            <a:avLst/>
          </a:prstGeom>
          <a:ln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6563966" cy="6423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600" b="1">
                <a:solidFill>
                  <a:schemeClr val="dk2"/>
                </a:solidFill>
              </a:rPr>
              <a:t>악성코드 탐지 문제 정의</a:t>
            </a:r>
            <a:endParaRPr lang="ko-KR" altLang="en-US" sz="3600" b="1">
              <a:solidFill>
                <a:schemeClr val="dk2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435578" y="1074420"/>
            <a:ext cx="11320843" cy="0"/>
          </a:xfrm>
          <a:prstGeom prst="line">
            <a:avLst/>
          </a:prstGeom>
          <a:ln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가로 글상자 4"/>
          <p:cNvSpPr txBox="1"/>
          <p:nvPr/>
        </p:nvSpPr>
        <p:spPr>
          <a:xfrm>
            <a:off x="435577" y="1782830"/>
            <a:ext cx="5660422" cy="35955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/>
              <a:t>문제 유형</a:t>
            </a:r>
            <a:endParaRPr lang="ko-KR" altLang="en-US" b="1"/>
          </a:p>
        </p:txBody>
      </p:sp>
      <p:sp>
        <p:nvSpPr>
          <p:cNvPr id="6" name="가로 글상자 5"/>
          <p:cNvSpPr txBox="1"/>
          <p:nvPr/>
        </p:nvSpPr>
        <p:spPr>
          <a:xfrm>
            <a:off x="435578" y="2142388"/>
            <a:ext cx="5660422" cy="637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웹 트래픽 기반 이진 분류 문제</a:t>
            </a:r>
            <a:endParaRPr lang="ko-KR" altLang="en-US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정상</a:t>
            </a:r>
            <a:r>
              <a:rPr lang="en-US" altLang="ko-KR">
                <a:latin typeface="맑은 고딕"/>
              </a:rPr>
              <a:t>(Benign) vs </a:t>
            </a:r>
            <a:r>
              <a:rPr lang="ko-KR" altLang="en-US">
                <a:solidFill>
                  <a:srgbClr val="ff0000"/>
                </a:solidFill>
                <a:latin typeface="맑은 고딕"/>
              </a:rPr>
              <a:t>의심</a:t>
            </a:r>
            <a:r>
              <a:rPr lang="en-US" altLang="ko-KR">
                <a:solidFill>
                  <a:srgbClr val="ff0000"/>
                </a:solidFill>
                <a:latin typeface="맑은 고딕"/>
              </a:rPr>
              <a:t>(Suspicious)</a:t>
            </a:r>
            <a:endParaRPr lang="en-US" altLang="ko-KR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7" name="가로 글상자 6"/>
          <p:cNvSpPr txBox="1"/>
          <p:nvPr/>
        </p:nvSpPr>
        <p:spPr>
          <a:xfrm>
            <a:off x="435578" y="2791994"/>
            <a:ext cx="5660422" cy="358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Font typeface="Arial"/>
              <a:buNone/>
              <a:defRPr/>
            </a:pPr>
            <a:r>
              <a:rPr lang="ko-KR" altLang="en-US" b="1"/>
              <a:t>분석 범위</a:t>
            </a:r>
            <a:endParaRPr lang="ko-KR" altLang="en-US" b="1"/>
          </a:p>
        </p:txBody>
      </p:sp>
      <p:sp>
        <p:nvSpPr>
          <p:cNvPr id="8" name="가로 글상자 7"/>
          <p:cNvSpPr txBox="1"/>
          <p:nvPr/>
        </p:nvSpPr>
        <p:spPr>
          <a:xfrm>
            <a:off x="435577" y="3110497"/>
            <a:ext cx="5660422" cy="640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패킷</a:t>
            </a:r>
            <a:r>
              <a:rPr lang="en-US" altLang="ko-KR"/>
              <a:t>/</a:t>
            </a:r>
            <a:r>
              <a:rPr lang="ko-KR" altLang="en-US"/>
              <a:t>페이로드 분석 제외</a:t>
            </a:r>
            <a:endParaRPr lang="ko-KR" altLang="en-US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행위 요약 </a:t>
            </a:r>
            <a:r>
              <a:rPr lang="en-US" altLang="ko-KR">
                <a:latin typeface="맑은 고딕"/>
              </a:rPr>
              <a:t>Feature </a:t>
            </a:r>
            <a:r>
              <a:rPr lang="ko-KR" altLang="en-US"/>
              <a:t>기반 탐지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435577" y="3750945"/>
            <a:ext cx="5660422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Font typeface="Arial"/>
              <a:buNone/>
              <a:defRPr/>
            </a:pPr>
            <a:r>
              <a:rPr lang="ko-KR" altLang="en-US" b="1"/>
              <a:t>현실적 제약</a:t>
            </a:r>
            <a:endParaRPr lang="ko-KR" altLang="en-US" b="1"/>
          </a:p>
        </p:txBody>
      </p:sp>
      <p:sp>
        <p:nvSpPr>
          <p:cNvPr id="10" name="가로 글상자 9"/>
          <p:cNvSpPr txBox="1"/>
          <p:nvPr/>
        </p:nvSpPr>
        <p:spPr>
          <a:xfrm>
            <a:off x="435577" y="4112895"/>
            <a:ext cx="5660422" cy="63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en-US" altLang="ko-KR">
                <a:latin typeface="맑은 고딕"/>
              </a:rPr>
              <a:t>Rule </a:t>
            </a:r>
            <a:r>
              <a:rPr lang="ko-KR" altLang="en-US">
                <a:latin typeface="맑은 고딕"/>
              </a:rPr>
              <a:t>기반 </a:t>
            </a:r>
            <a:r>
              <a:rPr lang="en-US" altLang="ko-KR">
                <a:latin typeface="맑은 고딕"/>
              </a:rPr>
              <a:t>weak labeling</a:t>
            </a: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클래스 불균형 구조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435578" y="4751070"/>
            <a:ext cx="5660422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Font typeface="Arial"/>
              <a:buNone/>
              <a:defRPr/>
            </a:pPr>
            <a:r>
              <a:rPr lang="ko-KR" altLang="en-US" b="1"/>
              <a:t>평가 관점</a:t>
            </a:r>
            <a:endParaRPr lang="ko-KR" altLang="en-US" b="1"/>
          </a:p>
        </p:txBody>
      </p:sp>
      <p:sp>
        <p:nvSpPr>
          <p:cNvPr id="12" name="가로 글상자 11"/>
          <p:cNvSpPr txBox="1"/>
          <p:nvPr/>
        </p:nvSpPr>
        <p:spPr>
          <a:xfrm>
            <a:off x="435578" y="5113020"/>
            <a:ext cx="5660422" cy="638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>
                <a:latin typeface="맑은 고딕"/>
              </a:rPr>
              <a:t>미탐</a:t>
            </a:r>
            <a:r>
              <a:rPr lang="en-US" altLang="ko-KR">
                <a:latin typeface="맑은 고딕"/>
              </a:rPr>
              <a:t>(False Negative) </a:t>
            </a:r>
            <a:r>
              <a:rPr lang="ko-KR" altLang="en-US">
                <a:latin typeface="맑은 고딕"/>
              </a:rPr>
              <a:t>최소화</a:t>
            </a:r>
            <a:endParaRPr lang="ko-KR" altLang="en-US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>
                <a:latin typeface="맑은 고딕"/>
              </a:rPr>
              <a:t>Recall </a:t>
            </a:r>
            <a:r>
              <a:rPr lang="ko-KR" altLang="en-US">
                <a:latin typeface="맑은 고딕"/>
              </a:rPr>
              <a:t>중심 성능 평가</a:t>
            </a: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1136431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2470978" cy="57569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3a3c84"/>
                </a:solidFill>
              </a:rPr>
              <a:t>데이터 구성</a:t>
            </a:r>
            <a:endParaRPr lang="ko-KR" altLang="en-US" sz="3200" b="1">
              <a:solidFill>
                <a:srgbClr val="3a3c84"/>
              </a:solidFill>
            </a:endParaRPr>
          </a:p>
        </p:txBody>
      </p:sp>
      <p:cxnSp>
        <p:nvCxnSpPr>
          <p:cNvPr id="3" name="선 2"/>
          <p:cNvCxnSpPr>
            <a:stCxn id="2" idx="3"/>
          </p:cNvCxnSpPr>
          <p:nvPr/>
        </p:nvCxnSpPr>
        <p:spPr>
          <a:xfrm>
            <a:off x="2723009" y="718577"/>
            <a:ext cx="8911986" cy="0"/>
          </a:xfrm>
          <a:prstGeom prst="line">
            <a:avLst/>
          </a:prstGeom>
          <a:ln>
            <a:solidFill>
              <a:srgbClr val="d3d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/>
        </p:nvSpPr>
        <p:spPr>
          <a:xfrm>
            <a:off x="2153093" y="2332517"/>
            <a:ext cx="3077881" cy="36106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effectLst>
            <a:outerShdw blurRad="76200" dist="76200" dir="81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marL="257040" lvl="0" indent="-257040">
              <a:buFont typeface="Arial"/>
              <a:buChar char="•"/>
              <a:defRPr/>
            </a:pPr>
            <a:endParaRPr/>
          </a:p>
        </p:txBody>
      </p:sp>
      <p:sp>
        <p:nvSpPr>
          <p:cNvPr id="11" name="모서리가 둥근 직사각형 10"/>
          <p:cNvSpPr/>
          <p:nvPr/>
        </p:nvSpPr>
        <p:spPr>
          <a:xfrm>
            <a:off x="7384067" y="2332517"/>
            <a:ext cx="3077881" cy="36106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effectLst>
            <a:outerShdw blurRad="76200" dist="76200" dir="108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12" name="가로 글상자 11"/>
          <p:cNvSpPr txBox="1"/>
          <p:nvPr/>
        </p:nvSpPr>
        <p:spPr>
          <a:xfrm>
            <a:off x="2518021" y="1579377"/>
            <a:ext cx="2348024" cy="514218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800" b="1">
                <a:solidFill>
                  <a:srgbClr val="3a3c84"/>
                </a:solidFill>
              </a:rPr>
              <a:t>데이터 개요</a:t>
            </a:r>
            <a:endParaRPr lang="ko-KR" altLang="en-US" sz="2800" b="1">
              <a:solidFill>
                <a:srgbClr val="3a3c84"/>
              </a:solidFill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7790292" y="1655544"/>
            <a:ext cx="1842390" cy="36188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/>
          </a:p>
        </p:txBody>
      </p:sp>
      <p:sp>
        <p:nvSpPr>
          <p:cNvPr id="14" name="가로 글상자 13"/>
          <p:cNvSpPr txBox="1"/>
          <p:nvPr/>
        </p:nvSpPr>
        <p:spPr>
          <a:xfrm>
            <a:off x="7384067" y="1579377"/>
            <a:ext cx="2924473" cy="447543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400" b="1">
                <a:solidFill>
                  <a:srgbClr val="3a3c84"/>
                </a:solidFill>
                <a:latin typeface="맑은 고딕"/>
              </a:rPr>
              <a:t>Feature </a:t>
            </a:r>
            <a:r>
              <a:rPr lang="ko-KR" altLang="en-US" sz="2400" b="1">
                <a:solidFill>
                  <a:srgbClr val="3a3c84"/>
                </a:solidFill>
                <a:latin typeface="맑은 고딕"/>
              </a:rPr>
              <a:t>및 </a:t>
            </a:r>
            <a:r>
              <a:rPr lang="en-US" altLang="ko-KR" sz="2400" b="1">
                <a:solidFill>
                  <a:srgbClr val="3a3c84"/>
                </a:solidFill>
                <a:latin typeface="맑은 고딕"/>
              </a:rPr>
              <a:t>Lavbel</a:t>
            </a:r>
            <a:endParaRPr lang="en-US" altLang="ko-KR" sz="2400" b="1">
              <a:solidFill>
                <a:srgbClr val="3a3c84"/>
              </a:solidFill>
              <a:latin typeface="맑은 고딕"/>
            </a:endParaRPr>
          </a:p>
        </p:txBody>
      </p:sp>
      <p:sp>
        <p:nvSpPr>
          <p:cNvPr id="15" name="가로 글상자 14"/>
          <p:cNvSpPr txBox="1"/>
          <p:nvPr/>
        </p:nvSpPr>
        <p:spPr>
          <a:xfrm>
            <a:off x="2518021" y="2722776"/>
            <a:ext cx="2348024" cy="3380843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데이터 형식</a:t>
            </a:r>
            <a:endParaRPr lang="ko-KR" altLang="en-US"/>
          </a:p>
          <a:p>
            <a:pPr marL="0" lvl="0" indent="0">
              <a:buFont typeface="Arial"/>
              <a:buNone/>
              <a:defRPr/>
            </a:pPr>
            <a:r>
              <a:rPr lang="en-US" altLang="ko-KR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 </a:t>
            </a:r>
            <a:r>
              <a:rPr lang="en-US" altLang="ko-KR">
                <a:latin typeface="맑은 고딕"/>
              </a:rPr>
              <a:t>json</a:t>
            </a:r>
            <a:endParaRPr lang="en-US" altLang="ko-KR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총 수집 트래픽 수</a:t>
            </a:r>
            <a:endParaRPr lang="ko-KR" altLang="en-US"/>
          </a:p>
          <a:p>
            <a:pPr marL="0" lvl="0" indent="0">
              <a:buFont typeface="Arial"/>
              <a:buNone/>
              <a:defRPr/>
            </a:pPr>
            <a:r>
              <a:rPr lang="en-US" altLang="ko-KR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4046</a:t>
            </a:r>
            <a:r>
              <a:rPr lang="ko-KR" altLang="en-US"/>
              <a:t> 건 </a:t>
            </a:r>
            <a:endParaRPr lang="ko-KR" altLang="en-US"/>
          </a:p>
          <a:p>
            <a:pPr marL="0" lvl="0" indent="0">
              <a:buFont typeface="Arial"/>
              <a:buNone/>
              <a:defRPr/>
            </a:pPr>
            <a:endParaRPr lang="ko-KR" altLang="en-US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학습 데이터</a:t>
            </a:r>
            <a:r>
              <a:rPr lang="ko-KR" altLang="en-US">
                <a:latin typeface="맑은 고딕"/>
              </a:rPr>
              <a:t> </a:t>
            </a:r>
            <a:endParaRPr lang="en-US" altLang="ko-KR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en-US" altLang="ko-KR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506</a:t>
            </a:r>
            <a:r>
              <a:rPr lang="ko-KR" altLang="en-US">
                <a:latin typeface="맑은 고딕"/>
              </a:rPr>
              <a:t>건 </a:t>
            </a:r>
            <a:r>
              <a:rPr lang="en-US" altLang="ko-KR">
                <a:latin typeface="맑은 고딕"/>
              </a:rPr>
              <a:t>(</a:t>
            </a:r>
            <a:r>
              <a:rPr lang="ko-KR" altLang="en-US">
                <a:latin typeface="맑은 고딕"/>
              </a:rPr>
              <a:t>분석 기준 충족 트래픽만 선별 사용</a:t>
            </a:r>
            <a:r>
              <a:rPr lang="en-US" altLang="ko-KR">
                <a:latin typeface="맑은 고딕"/>
              </a:rPr>
              <a:t>)</a:t>
            </a:r>
            <a:endParaRPr lang="en-US" altLang="ko-KR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endParaRPr lang="ko-KR" altLang="en-US"/>
          </a:p>
          <a:p>
            <a:pPr marL="0" lvl="0" indent="0"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16" name="가로 글상자 15"/>
          <p:cNvSpPr txBox="1"/>
          <p:nvPr/>
        </p:nvSpPr>
        <p:spPr>
          <a:xfrm>
            <a:off x="7663884" y="2722776"/>
            <a:ext cx="2518248" cy="2552169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en-US" altLang="ko-KR">
                <a:latin typeface="맑은 고딕"/>
              </a:rPr>
              <a:t>Feature </a:t>
            </a:r>
            <a:r>
              <a:rPr lang="ko-KR" altLang="en-US">
                <a:latin typeface="맑은 고딕"/>
              </a:rPr>
              <a:t>차원 </a:t>
            </a:r>
            <a:r>
              <a:rPr lang="en-US" altLang="ko-KR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14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>
                <a:latin typeface="맑은 고딕"/>
              </a:rPr>
              <a:t>Label: 0(Benign), 1(Suspicios)</a:t>
            </a:r>
            <a:endParaRPr lang="en-US" altLang="ko-KR">
              <a:latin typeface="맑은 고딕"/>
            </a:endParaRPr>
          </a:p>
          <a:p>
            <a:pPr lvl="0"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>
                <a:latin typeface="맑은 고딕"/>
              </a:rPr>
              <a:t>Rule </a:t>
            </a:r>
            <a:r>
              <a:rPr lang="ko-KR" altLang="en-US">
                <a:latin typeface="맑은 고딕"/>
              </a:rPr>
              <a:t>기반 </a:t>
            </a:r>
            <a:r>
              <a:rPr lang="en-US" altLang="ko-KR">
                <a:latin typeface="맑은 고딕"/>
              </a:rPr>
              <a:t>weak labeling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클래스 불균형 구조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761541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3391478" cy="57569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chemeClr val="dk2"/>
                </a:solidFill>
              </a:rPr>
              <a:t>데이터 전처리</a:t>
            </a:r>
            <a:endParaRPr lang="ko-KR" altLang="en-US" sz="3200" b="1">
              <a:solidFill>
                <a:schemeClr val="dk2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2972686" y="719160"/>
            <a:ext cx="8641080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"/>
          <p:cNvSpPr/>
          <p:nvPr/>
        </p:nvSpPr>
        <p:spPr>
          <a:xfrm>
            <a:off x="5807964" y="2086841"/>
            <a:ext cx="1468648" cy="1342158"/>
          </a:xfrm>
          <a:prstGeom prst="diamond">
            <a:avLst/>
          </a:prstGeom>
          <a:solidFill>
            <a:srgbClr val="a0b4e6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4627352" y="2086841"/>
            <a:ext cx="1468648" cy="1342158"/>
          </a:xfrm>
          <a:prstGeom prst="diamond">
            <a:avLst/>
          </a:prstGeom>
          <a:solidFill>
            <a:srgbClr val="a0b4e6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5824578" y="3212522"/>
            <a:ext cx="1468648" cy="1342158"/>
          </a:xfrm>
          <a:prstGeom prst="diamond">
            <a:avLst/>
          </a:prstGeom>
          <a:solidFill>
            <a:srgbClr val="a0b4e6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4627352" y="3238985"/>
            <a:ext cx="1468648" cy="1342158"/>
          </a:xfrm>
          <a:prstGeom prst="diamond">
            <a:avLst/>
          </a:prstGeom>
          <a:solidFill>
            <a:srgbClr val="a0b4e6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088067" y="2499533"/>
            <a:ext cx="547217" cy="51798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800"/>
              <a:t>01</a:t>
            </a:r>
            <a:endParaRPr lang="en-US" altLang="ko-KR" sz="2800"/>
          </a:p>
        </p:txBody>
      </p:sp>
      <p:sp>
        <p:nvSpPr>
          <p:cNvPr id="9" name=""/>
          <p:cNvSpPr/>
          <p:nvPr/>
        </p:nvSpPr>
        <p:spPr>
          <a:xfrm>
            <a:off x="4627352" y="2086841"/>
            <a:ext cx="1468648" cy="1342158"/>
          </a:xfrm>
          <a:prstGeom prst="diamond">
            <a:avLst/>
          </a:prstGeom>
          <a:solidFill>
            <a:srgbClr val="a0b4e6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088067" y="2499533"/>
            <a:ext cx="594548" cy="575137"/>
          </a:xfrm>
          <a:prstGeom prst="rect">
            <a:avLst/>
          </a:prstGeom>
          <a:solidFill>
            <a:srgbClr val="a0b4e6"/>
          </a:solidFill>
        </p:spPr>
        <p:txBody>
          <a:bodyPr wrap="none">
            <a:spAutoFit/>
          </a:bodyPr>
          <a:p>
            <a:pPr>
              <a:defRPr/>
            </a:pPr>
            <a:r>
              <a:rPr lang="en-US" altLang="ko-KR" sz="3200" b="1">
                <a:solidFill>
                  <a:schemeClr val="lt1"/>
                </a:solidFill>
              </a:rPr>
              <a:t>01</a:t>
            </a:r>
            <a:endParaRPr lang="en-US" altLang="ko-KR" sz="3200" b="1">
              <a:solidFill>
                <a:schemeClr val="lt1"/>
              </a:solidFill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285293" y="2499533"/>
            <a:ext cx="597472" cy="57513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3200" b="1">
                <a:solidFill>
                  <a:schemeClr val="lt1"/>
                </a:solidFill>
              </a:rPr>
              <a:t>02</a:t>
            </a:r>
            <a:endParaRPr lang="en-US" altLang="ko-KR" sz="3200" b="1">
              <a:solidFill>
                <a:schemeClr val="lt1"/>
              </a:solidFill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285293" y="3624608"/>
            <a:ext cx="597472" cy="57401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3200" b="1">
                <a:solidFill>
                  <a:schemeClr val="lt1"/>
                </a:solidFill>
              </a:rPr>
              <a:t>04</a:t>
            </a:r>
            <a:endParaRPr lang="en-US" altLang="ko-KR" sz="3200" b="1">
              <a:solidFill>
                <a:schemeClr val="lt1"/>
              </a:solidFill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016903" y="3624608"/>
            <a:ext cx="736875" cy="574012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3200" b="1">
                <a:solidFill>
                  <a:schemeClr val="lt1"/>
                </a:solidFill>
              </a:rPr>
              <a:t>03</a:t>
            </a:r>
            <a:endParaRPr lang="en-US" altLang="ko-KR" sz="3200" b="1">
              <a:solidFill>
                <a:schemeClr val="lt1"/>
              </a:solidFill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44131" y="1553298"/>
            <a:ext cx="3459658" cy="183379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400" b="1">
                <a:solidFill>
                  <a:srgbClr val="3a3c84"/>
                </a:solidFill>
              </a:rPr>
              <a:t>데이터 정제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분석 기준을 충족하는 트래픽만 선별</a:t>
            </a:r>
            <a:endParaRPr lang="ko-KR" altLang="en-US"/>
          </a:p>
          <a:p>
            <a:pPr>
              <a:defRPr/>
            </a:pPr>
            <a:r>
              <a:rPr lang="ko-KR" altLang="en-US"/>
              <a:t>학습에 적합하지 않은 로그 제외</a:t>
            </a:r>
            <a:endParaRPr lang="ko-KR" altLang="en-US"/>
          </a:p>
          <a:p>
            <a:pPr>
              <a:defRPr/>
            </a:pPr>
            <a:endParaRPr lang="ko-KR" altLang="en-US"/>
          </a:p>
        </p:txBody>
      </p:sp>
      <p:sp>
        <p:nvSpPr>
          <p:cNvPr id="15" name=""/>
          <p:cNvSpPr txBox="1"/>
          <p:nvPr/>
        </p:nvSpPr>
        <p:spPr>
          <a:xfrm>
            <a:off x="7500176" y="1553298"/>
            <a:ext cx="3459656" cy="155756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400" b="1">
                <a:solidFill>
                  <a:schemeClr val="dk2"/>
                </a:solidFill>
              </a:rPr>
              <a:t>학습</a:t>
            </a:r>
            <a:r>
              <a:rPr lang="en-US" altLang="ko-KR" sz="2400" b="1">
                <a:solidFill>
                  <a:schemeClr val="dk2"/>
                </a:solidFill>
              </a:rPr>
              <a:t>/</a:t>
            </a:r>
            <a:r>
              <a:rPr lang="ko-KR" altLang="en-US" sz="2400" b="1">
                <a:solidFill>
                  <a:schemeClr val="dk2"/>
                </a:solidFill>
              </a:rPr>
              <a:t>평가 데이터 구성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학습 데이터와 평가 데이터 분리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모델 성능의 과대평가 방지</a:t>
            </a:r>
            <a:endParaRPr lang="ko-KR" altLang="en-US"/>
          </a:p>
        </p:txBody>
      </p:sp>
      <p:sp>
        <p:nvSpPr>
          <p:cNvPr id="16" name=""/>
          <p:cNvSpPr txBox="1"/>
          <p:nvPr/>
        </p:nvSpPr>
        <p:spPr>
          <a:xfrm>
            <a:off x="7500176" y="4005072"/>
            <a:ext cx="3459656" cy="184137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defRPr/>
            </a:pPr>
            <a:r>
              <a:rPr lang="ko-KR" altLang="en-US" sz="2400" b="1">
                <a:solidFill>
                  <a:schemeClr val="dk2"/>
                </a:solidFill>
              </a:rPr>
              <a:t>불균형 데이터 대응</a:t>
            </a:r>
            <a:endParaRPr lang="ko-KR" altLang="en-US"/>
          </a:p>
          <a:p>
            <a:pPr>
              <a:spcAft>
                <a:spcPts val="50"/>
              </a:spcAft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50"/>
              </a:spcAft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정상 대비 의심 트래픽 비율이 낮은 구조</a:t>
            </a:r>
            <a:endParaRPr lang="ko-KR" altLang="en-US">
              <a:solidFill>
                <a:schemeClr val="tx1"/>
              </a:solidFill>
            </a:endParaRPr>
          </a:p>
          <a:p>
            <a:pPr>
              <a:spcAft>
                <a:spcPts val="50"/>
              </a:spcAft>
              <a:defRPr/>
            </a:pPr>
            <a:r>
              <a:rPr lang="en-US" altLang="ko-KR">
                <a:solidFill>
                  <a:schemeClr val="tx1"/>
                </a:solidFill>
              </a:rPr>
              <a:t>-</a:t>
            </a:r>
            <a:r>
              <a:rPr lang="ko-KR" altLang="en-US">
                <a:solidFill>
                  <a:schemeClr val="tx1"/>
                </a:solidFill>
              </a:rPr>
              <a:t> 클래스 가중치 기반 학습 전략 적용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945744" y="4005072"/>
            <a:ext cx="3456432" cy="127939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400" b="1">
                <a:solidFill>
                  <a:schemeClr val="dk2"/>
                </a:solidFill>
                <a:latin typeface="맑은 고딕"/>
              </a:rPr>
              <a:t>Feature</a:t>
            </a:r>
            <a:r>
              <a:rPr lang="en-US" altLang="ko-KR" sz="2400" b="1">
                <a:solidFill>
                  <a:schemeClr val="dk2"/>
                </a:solidFill>
              </a:rPr>
              <a:t> </a:t>
            </a:r>
            <a:r>
              <a:rPr lang="ko-KR" altLang="en-US" sz="2400" b="1">
                <a:solidFill>
                  <a:schemeClr val="dk2"/>
                </a:solidFill>
              </a:rPr>
              <a:t>처리</a:t>
            </a:r>
            <a:endParaRPr lang="ko-KR" altLang="en-US">
              <a:solidFill>
                <a:schemeClr val="dk2"/>
              </a:solidFill>
            </a:endParaRPr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>
                <a:latin typeface="맑은 고딕"/>
              </a:rPr>
              <a:t>Feature</a:t>
            </a:r>
            <a:r>
              <a:rPr lang="ko-KR" altLang="en-US"/>
              <a:t> 간 스케일 차이 보정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학습 데이터 기준 정규화 적용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3463637" cy="57569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chemeClr val="dk2"/>
                </a:solidFill>
              </a:rPr>
              <a:t>모델 설계</a:t>
            </a:r>
            <a:endParaRPr lang="ko-KR" altLang="en-US" sz="3200" b="1">
              <a:solidFill>
                <a:schemeClr val="dk2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 flipV="1">
            <a:off x="2444750" y="720090"/>
            <a:ext cx="9265227" cy="28863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순서도: 대체 처리 3"/>
          <p:cNvSpPr/>
          <p:nvPr/>
        </p:nvSpPr>
        <p:spPr>
          <a:xfrm>
            <a:off x="972704" y="1095477"/>
            <a:ext cx="10246591" cy="1399886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 baseline="-24000">
              <a:effectLst/>
            </a:endParaRPr>
          </a:p>
        </p:txBody>
      </p:sp>
      <p:sp>
        <p:nvSpPr>
          <p:cNvPr id="5" name="순서도: 대체 처리 4"/>
          <p:cNvSpPr/>
          <p:nvPr/>
        </p:nvSpPr>
        <p:spPr>
          <a:xfrm>
            <a:off x="972704" y="3159949"/>
            <a:ext cx="10246591" cy="1399886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6" name="순서도: 대체 처리 5"/>
          <p:cNvSpPr/>
          <p:nvPr/>
        </p:nvSpPr>
        <p:spPr>
          <a:xfrm>
            <a:off x="1044130" y="5224421"/>
            <a:ext cx="10246591" cy="1399886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8" name="순서도: 대체 처리 7"/>
          <p:cNvSpPr/>
          <p:nvPr/>
        </p:nvSpPr>
        <p:spPr>
          <a:xfrm>
            <a:off x="1080133" y="1212749"/>
            <a:ext cx="2293776" cy="456428"/>
          </a:xfrm>
          <a:prstGeom prst="flowChartAlternateProcess">
            <a:avLst/>
          </a:prstGeom>
          <a:noFill/>
          <a:ln cmpd="sng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p>
            <a:pPr lvl="0">
              <a:defRPr/>
            </a:pPr>
            <a:r>
              <a:rPr lang="ko-KR" altLang="en-US" sz="2100">
                <a:solidFill>
                  <a:srgbClr val="3a3c84"/>
                </a:solidFill>
              </a:rPr>
              <a:t>모델설계</a:t>
            </a:r>
            <a:endParaRPr lang="ko-KR" altLang="en-US" sz="2100">
              <a:solidFill>
                <a:srgbClr val="3a3c84"/>
              </a:solidFill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1127379" y="3025146"/>
            <a:ext cx="2293776" cy="403853"/>
          </a:xfrm>
          <a:prstGeom prst="flowChartAlternateProcess">
            <a:avLst/>
          </a:prstGeom>
          <a:noFill/>
          <a:ln cmpd="sng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p>
            <a:pPr lvl="0">
              <a:defRPr/>
            </a:pPr>
            <a:r>
              <a:rPr lang="en-US" altLang="ko-KR">
                <a:solidFill>
                  <a:srgbClr val="3a3c84"/>
                </a:solidFill>
                <a:latin typeface="맑은 고딕"/>
              </a:rPr>
              <a:t>Baseline </a:t>
            </a:r>
            <a:r>
              <a:rPr lang="ko-KR" altLang="en-US">
                <a:solidFill>
                  <a:srgbClr val="3a3c84"/>
                </a:solidFill>
                <a:latin typeface="맑은 고딕"/>
              </a:rPr>
              <a:t>모델</a:t>
            </a:r>
            <a:endParaRPr lang="ko-KR" altLang="en-US">
              <a:solidFill>
                <a:srgbClr val="3a3c84"/>
              </a:solidFill>
              <a:latin typeface="맑은 고딕"/>
            </a:endParaRPr>
          </a:p>
        </p:txBody>
      </p:sp>
      <p:sp>
        <p:nvSpPr>
          <p:cNvPr id="10" name="순서도: 대체 처리 9"/>
          <p:cNvSpPr/>
          <p:nvPr/>
        </p:nvSpPr>
        <p:spPr>
          <a:xfrm>
            <a:off x="1080133" y="4951701"/>
            <a:ext cx="2293776" cy="451010"/>
          </a:xfrm>
          <a:prstGeom prst="flowChartAlternateProcess">
            <a:avLst/>
          </a:prstGeom>
          <a:solidFill>
            <a:schemeClr val="lt1"/>
          </a:solidFill>
          <a:ln cmpd="sng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p>
            <a:pPr lvl="0">
              <a:defRPr/>
            </a:pPr>
            <a:r>
              <a:rPr lang="ko-KR" altLang="en-US" sz="2100">
                <a:solidFill>
                  <a:srgbClr val="3a3c84"/>
                </a:solidFill>
              </a:rPr>
              <a:t>비교 모델</a:t>
            </a:r>
            <a:endParaRPr lang="ko-KR" altLang="en-US" sz="2100">
              <a:solidFill>
                <a:srgbClr val="3a3c84"/>
              </a:solidFill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1008126" y="1796140"/>
            <a:ext cx="9661073" cy="1002304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sz="2000"/>
              <a:t>웹 트래픽 기반 의심 행위 탐지를 위한 </a:t>
            </a:r>
            <a:r>
              <a:rPr sz="2000" b="1"/>
              <a:t>이진 분류 모델</a:t>
            </a:r>
            <a:r>
              <a:rPr sz="2000"/>
              <a:t> 설계</a:t>
            </a:r>
            <a:endParaRPr sz="2000"/>
          </a:p>
          <a:p>
            <a:pPr marL="257040" lvl="0" indent="-257040">
              <a:buFont typeface="Arial"/>
              <a:buChar char="•"/>
              <a:defRPr/>
            </a:pPr>
            <a:endParaRPr sz="20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000">
                <a:latin typeface="맑은 고딕"/>
              </a:rPr>
              <a:t>Feature 수(14) </a:t>
            </a:r>
            <a:r>
              <a:rPr lang="ko-KR" altLang="en-US" sz="2000"/>
              <a:t>및 데이터 규모를 고려한 </a:t>
            </a:r>
            <a:r>
              <a:rPr lang="ko-KR" altLang="en-US" sz="2000" b="1"/>
              <a:t>과적합 방지 목적</a:t>
            </a:r>
            <a:r>
              <a:rPr lang="ko-KR" altLang="en-US" sz="2000"/>
              <a:t>의 경량 모델 선택</a:t>
            </a:r>
            <a:endParaRPr lang="ko-KR" altLang="en-US" sz="2000"/>
          </a:p>
        </p:txBody>
      </p:sp>
      <p:sp>
        <p:nvSpPr>
          <p:cNvPr id="13" name="가로 글상자 12"/>
          <p:cNvSpPr txBox="1"/>
          <p:nvPr/>
        </p:nvSpPr>
        <p:spPr>
          <a:xfrm>
            <a:off x="1044130" y="3701143"/>
            <a:ext cx="9479644" cy="1002302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sz="2000"/>
              <a:t>해석 가능성이 높은</a:t>
            </a:r>
            <a:r>
              <a:rPr sz="2000">
                <a:latin typeface="맑은 고딕"/>
              </a:rPr>
              <a:t> </a:t>
            </a:r>
            <a:r>
              <a:rPr sz="2000" b="1">
                <a:latin typeface="맑은 고딕"/>
              </a:rPr>
              <a:t>Logistic Regression</a:t>
            </a:r>
            <a:endParaRPr sz="2000" b="1"/>
          </a:p>
          <a:p>
            <a:pPr marL="257040" lvl="0" indent="-257040">
              <a:buFont typeface="Arial"/>
              <a:buChar char="•"/>
              <a:defRPr/>
            </a:pPr>
            <a:endParaRPr sz="2000"/>
          </a:p>
          <a:p>
            <a:pPr marL="257040" lvl="0" indent="-257040">
              <a:buFont typeface="Arial"/>
              <a:buChar char="•"/>
              <a:defRPr/>
            </a:pPr>
            <a:r>
              <a:rPr sz="2000">
                <a:latin typeface="맑은 고딕"/>
              </a:rPr>
              <a:t>Feature</a:t>
            </a:r>
            <a:r>
              <a:rPr sz="2000"/>
              <a:t> 분류력 검증을 위한 기준 모</a:t>
            </a:r>
            <a:r>
              <a:rPr/>
              <a:t>델</a:t>
            </a:r>
            <a:endParaRPr/>
          </a:p>
        </p:txBody>
      </p:sp>
      <p:sp>
        <p:nvSpPr>
          <p:cNvPr id="14" name="가로 글상자 13"/>
          <p:cNvSpPr txBox="1"/>
          <p:nvPr/>
        </p:nvSpPr>
        <p:spPr>
          <a:xfrm>
            <a:off x="1008126" y="5492749"/>
            <a:ext cx="9366250" cy="1004571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sz="2000"/>
              <a:t>비선형 패턴 반영을 위한 </a:t>
            </a:r>
            <a:r>
              <a:rPr sz="2000">
                <a:latin typeface="맑은 고딕"/>
              </a:rPr>
              <a:t>Random Forest</a:t>
            </a:r>
            <a:endParaRPr sz="2000">
              <a:latin typeface="맑은 고딕"/>
            </a:endParaRPr>
          </a:p>
          <a:p>
            <a:pPr lvl="0">
              <a:defRPr/>
            </a:pPr>
            <a:endParaRPr sz="2000"/>
          </a:p>
          <a:p>
            <a:pPr marL="257040" lvl="0" indent="-257040">
              <a:buFont typeface="Arial"/>
              <a:buChar char="•"/>
              <a:defRPr/>
            </a:pPr>
            <a:r>
              <a:rPr sz="2000">
                <a:latin typeface="맑은 고딕"/>
              </a:rPr>
              <a:t>Baseline</a:t>
            </a:r>
            <a:r>
              <a:rPr sz="2000"/>
              <a:t> 대비 성능 비교 목적</a:t>
            </a:r>
            <a:endParaRPr sz="2000"/>
          </a:p>
        </p:txBody>
      </p:sp>
      <p:sp>
        <p:nvSpPr>
          <p:cNvPr id="15" name="가로 글상자 14"/>
          <p:cNvSpPr txBox="1"/>
          <p:nvPr/>
        </p:nvSpPr>
        <p:spPr>
          <a:xfrm>
            <a:off x="1220106" y="1319892"/>
            <a:ext cx="245201" cy="365942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013703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2199821" cy="57569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chemeClr val="dk2"/>
                </a:solidFill>
              </a:rPr>
              <a:t>모델 학습</a:t>
            </a:r>
            <a:endParaRPr lang="ko-KR" altLang="en-US" sz="3200" b="1">
              <a:solidFill>
                <a:schemeClr val="dk2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2412301" y="730250"/>
            <a:ext cx="9388929" cy="45357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1168355" y="3429000"/>
          <a:ext cx="9719218" cy="2987641"/>
        </p:xfrm>
        <a:graphic>
          <a:graphicData uri="http://schemas.openxmlformats.org/drawingml/2006/table">
            <a:tbl>
              <a:tblPr firstRow="1" bandRow="1"/>
              <a:tblGrid>
                <a:gridCol w="3522286"/>
                <a:gridCol w="3293194"/>
                <a:gridCol w="2903738"/>
              </a:tblGrid>
              <a:tr h="77470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xmlns:mc="http://schemas.openxmlformats.org/markup-compatibility/2006" xmlns:hp="http://schemas.haansoft.com/office/presentation/8.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Logistic Regression </a:t>
                      </a:r>
                      <a:endParaRPr xmlns:mc="http://schemas.openxmlformats.org/markup-compatibility/2006" xmlns:hp="http://schemas.haansoft.com/office/presentation/8.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Random Forest</a:t>
                      </a:r>
                      <a:endParaRPr xmlns:mc="http://schemas.openxmlformats.org/markup-compatibility/2006" xmlns:hp="http://schemas.haansoft.com/office/presentation/8.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7941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역할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Baseline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모델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7941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Feature 정규화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77470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 imbalance 대응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class_weight 적용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class_weight</a:t>
                      </a:r>
                      <a:r>
        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7941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목적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Feature 분류력 검증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비선형 패턴 반영</a:t>
                      </a:r>
                      <a:endParaRPr xmlns:mc="http://schemas.openxmlformats.org/markup-compatibility/2006" xmlns:hp="http://schemas.haansoft.com/office/presentation/8.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가로 글상자 15"/>
          <p:cNvSpPr txBox="1"/>
          <p:nvPr/>
        </p:nvSpPr>
        <p:spPr>
          <a:xfrm>
            <a:off x="2295718" y="1322496"/>
            <a:ext cx="7600564" cy="181884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lvl="0">
              <a:defRPr/>
            </a:pPr>
            <a:r>
              <a:rPr lang="ko-KR" altLang="en-US" sz="2400" b="1">
                <a:solidFill>
                  <a:schemeClr val="dk2"/>
                </a:solidFill>
              </a:rPr>
              <a:t>모델 특성에 따라 학습 전략을 차등 적용함</a:t>
            </a:r>
            <a:endParaRPr lang="ko-KR" altLang="en-US" sz="2900" b="1">
              <a:solidFill>
                <a:schemeClr val="dk2"/>
              </a:solidFill>
            </a:endParaRPr>
          </a:p>
          <a:p>
            <a:pPr lvl="0">
              <a:defRPr/>
            </a:pPr>
            <a:endParaRPr lang="ko-KR" altLang="en-US" sz="2000"/>
          </a:p>
          <a:p>
            <a:pPr marL="257040" lvl="0" indent="-257040">
              <a:spcAft>
                <a:spcPts val="600"/>
              </a:spcAft>
              <a:buFont typeface="Arial"/>
              <a:buChar char="•"/>
              <a:defRPr/>
            </a:pPr>
            <a:r>
              <a:rPr lang="ko-KR" altLang="en-US" sz="2000">
                <a:solidFill>
                  <a:schemeClr val="tx1"/>
                </a:solidFill>
              </a:rPr>
              <a:t>학습</a:t>
            </a:r>
            <a:r>
              <a:rPr lang="en-US" altLang="ko-KR" sz="2000">
                <a:solidFill>
                  <a:schemeClr val="tx1"/>
                </a:solidFill>
              </a:rPr>
              <a:t>/</a:t>
            </a:r>
            <a:r>
              <a:rPr lang="ko-KR" altLang="en-US" sz="2000">
                <a:solidFill>
                  <a:schemeClr val="tx1"/>
                </a:solidFill>
              </a:rPr>
              <a:t>평가 데이터 분리를 통해 일반화 성능 확보</a:t>
            </a:r>
            <a:endParaRPr lang="ko-KR" altLang="en-US" sz="2000">
              <a:solidFill>
                <a:schemeClr val="tx1"/>
              </a:solidFill>
            </a:endParaRPr>
          </a:p>
          <a:p>
            <a:pPr marL="257040" lvl="0" indent="-257040">
              <a:spcAft>
                <a:spcPts val="600"/>
              </a:spcAft>
              <a:buFont typeface="Arial"/>
              <a:buChar char="•"/>
              <a:defRPr/>
            </a:pPr>
            <a:r>
              <a:rPr lang="ko-KR" altLang="en-US" sz="2000">
                <a:solidFill>
                  <a:schemeClr val="tx1"/>
                </a:solidFill>
              </a:rPr>
              <a:t>클래스 불균형을 고려한 가중치 기반 학습 적용</a:t>
            </a:r>
            <a:endParaRPr lang="ko-KR" altLang="en-US" sz="2000">
              <a:solidFill>
                <a:schemeClr val="tx1"/>
              </a:solidFill>
            </a:endParaRPr>
          </a:p>
          <a:p>
            <a:pPr marL="257040" lvl="0" indent="-257040">
              <a:spcAft>
                <a:spcPts val="600"/>
              </a:spcAft>
              <a:buFont typeface="Arial"/>
              <a:buChar char="•"/>
              <a:defRPr/>
            </a:pPr>
            <a:r>
              <a:rPr lang="en-US" altLang="ko-KR" sz="2000">
                <a:solidFill>
                  <a:schemeClr val="tx1"/>
                </a:solidFill>
                <a:latin typeface="맑은 고딕"/>
              </a:rPr>
              <a:t>Feature </a:t>
            </a:r>
            <a:r>
              <a:rPr lang="ko-KR" altLang="en-US" sz="2000">
                <a:solidFill>
                  <a:schemeClr val="tx1"/>
                </a:solidFill>
              </a:rPr>
              <a:t>스케일 차이를 고려한 전처리 적용</a:t>
            </a:r>
            <a:endParaRPr lang="ko-KR" alt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83053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4898571" cy="57569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chemeClr val="dk2"/>
                </a:solidFill>
              </a:rPr>
              <a:t>특징 추출 및 분석</a:t>
            </a:r>
            <a:endParaRPr lang="ko-KR" altLang="en-US" sz="3200" b="1">
              <a:solidFill>
                <a:schemeClr val="dk2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 flipV="1">
            <a:off x="3753627" y="756168"/>
            <a:ext cx="7872704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순서도: 연결자 3"/>
          <p:cNvSpPr/>
          <p:nvPr/>
        </p:nvSpPr>
        <p:spPr>
          <a:xfrm>
            <a:off x="7272045" y="2164625"/>
            <a:ext cx="583163" cy="544285"/>
          </a:xfrm>
          <a:prstGeom prst="flowChartConnector">
            <a:avLst/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p>
            <a:pPr lvl="0">
              <a:defRPr/>
            </a:pPr>
            <a:r>
              <a:rPr lang="en-US" altLang="ko-KR" b="1">
                <a:solidFill>
                  <a:srgbClr val="3a3c84"/>
                </a:solidFill>
              </a:rPr>
              <a:t>0</a:t>
            </a:r>
            <a:r>
              <a:rPr lang="en-US" altLang="ko-KR">
                <a:solidFill>
                  <a:srgbClr val="3a3c84"/>
                </a:solidFill>
              </a:rPr>
              <a:t>1</a:t>
            </a:r>
            <a:endParaRPr lang="en-US" altLang="ko-KR">
              <a:solidFill>
                <a:srgbClr val="3a3c84"/>
              </a:solidFill>
            </a:endParaRPr>
          </a:p>
        </p:txBody>
      </p:sp>
      <p:sp>
        <p:nvSpPr>
          <p:cNvPr id="5" name="순서도: 연결자 4"/>
          <p:cNvSpPr/>
          <p:nvPr/>
        </p:nvSpPr>
        <p:spPr>
          <a:xfrm>
            <a:off x="7272045" y="2884714"/>
            <a:ext cx="583163" cy="544285"/>
          </a:xfrm>
          <a:prstGeom prst="flowChartConnector">
            <a:avLst/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p>
            <a:pPr lvl="0">
              <a:defRPr/>
            </a:pPr>
            <a:r>
              <a:rPr lang="en-US" altLang="ko-KR">
                <a:solidFill>
                  <a:srgbClr val="3a3c84"/>
                </a:solidFill>
              </a:rPr>
              <a:t>02</a:t>
            </a:r>
            <a:endParaRPr lang="en-US" altLang="ko-KR">
              <a:solidFill>
                <a:srgbClr val="3a3c84"/>
              </a:solidFill>
            </a:endParaRPr>
          </a:p>
          <a:p>
            <a:pPr lvl="0">
              <a:defRPr/>
            </a:pPr>
            <a:endParaRPr lang="en-US" altLang="ko-KR">
              <a:solidFill>
                <a:srgbClr val="3a3c84"/>
              </a:solidFill>
            </a:endParaRPr>
          </a:p>
        </p:txBody>
      </p:sp>
      <p:sp>
        <p:nvSpPr>
          <p:cNvPr id="6" name="순서도: 연결자 5"/>
          <p:cNvSpPr/>
          <p:nvPr/>
        </p:nvSpPr>
        <p:spPr>
          <a:xfrm>
            <a:off x="7272045" y="3645027"/>
            <a:ext cx="583163" cy="544285"/>
          </a:xfrm>
          <a:prstGeom prst="flowChartConnector">
            <a:avLst/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p>
            <a:pPr lvl="0">
              <a:defRPr/>
            </a:pPr>
            <a:r>
              <a:rPr lang="en-US" altLang="ko-KR">
                <a:solidFill>
                  <a:srgbClr val="3a3c84"/>
                </a:solidFill>
              </a:rPr>
              <a:t>03</a:t>
            </a:r>
            <a:endParaRPr lang="en-US" altLang="ko-KR">
              <a:solidFill>
                <a:srgbClr val="3a3c84"/>
              </a:solidFill>
            </a:endParaRPr>
          </a:p>
          <a:p>
            <a:pPr lvl="0">
              <a:defRPr/>
            </a:pPr>
            <a:endParaRPr lang="en-US" altLang="ko-KR">
              <a:solidFill>
                <a:srgbClr val="3a3c84"/>
              </a:solidFill>
            </a:endParaRPr>
          </a:p>
        </p:txBody>
      </p:sp>
      <p:sp>
        <p:nvSpPr>
          <p:cNvPr id="7" name="순서도: 연결자 6"/>
          <p:cNvSpPr/>
          <p:nvPr/>
        </p:nvSpPr>
        <p:spPr>
          <a:xfrm>
            <a:off x="7272045" y="4437126"/>
            <a:ext cx="583163" cy="544285"/>
          </a:xfrm>
          <a:prstGeom prst="flowChartConnector">
            <a:avLst/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p>
            <a:pPr lvl="0">
              <a:defRPr/>
            </a:pPr>
            <a:r>
              <a:rPr lang="en-US" altLang="ko-KR">
                <a:solidFill>
                  <a:srgbClr val="3a3c84"/>
                </a:solidFill>
              </a:rPr>
              <a:t>04</a:t>
            </a:r>
            <a:endParaRPr lang="en-US" altLang="ko-KR">
              <a:solidFill>
                <a:srgbClr val="3a3c84"/>
              </a:solidFill>
            </a:endParaRPr>
          </a:p>
        </p:txBody>
      </p:sp>
      <p:sp>
        <p:nvSpPr>
          <p:cNvPr id="9" name="가로 글상자 8"/>
          <p:cNvSpPr txBox="1"/>
          <p:nvPr/>
        </p:nvSpPr>
        <p:spPr>
          <a:xfrm>
            <a:off x="7896224" y="1393698"/>
            <a:ext cx="3384424" cy="4522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400" b="1">
                <a:solidFill>
                  <a:srgbClr val="3a3c84"/>
                </a:solidFill>
                <a:latin typeface="맑은 고딕"/>
              </a:rPr>
              <a:t>feature </a:t>
            </a:r>
            <a:r>
              <a:rPr lang="ko-KR" altLang="en-US" sz="2400" b="1">
                <a:solidFill>
                  <a:srgbClr val="3a3c84"/>
                </a:solidFill>
                <a:latin typeface="맑은 고딕"/>
              </a:rPr>
              <a:t>구성 기준</a:t>
            </a:r>
            <a:endParaRPr lang="ko-KR" altLang="en-US" sz="2400" b="1">
              <a:solidFill>
                <a:srgbClr val="3a3c84"/>
              </a:solidFill>
              <a:latin typeface="맑은 고딕"/>
            </a:endParaRPr>
          </a:p>
        </p:txBody>
      </p:sp>
      <p:sp>
        <p:nvSpPr>
          <p:cNvPr id="10" name="가로 글상자 9"/>
          <p:cNvSpPr txBox="1"/>
          <p:nvPr/>
        </p:nvSpPr>
        <p:spPr>
          <a:xfrm>
            <a:off x="7968233" y="2229612"/>
            <a:ext cx="2952370" cy="40728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100"/>
              <a:t>빈도</a:t>
            </a:r>
            <a:r>
              <a:rPr lang="en-US" altLang="ko-KR" sz="2100"/>
              <a:t>/</a:t>
            </a:r>
            <a:r>
              <a:rPr lang="ko-KR" altLang="en-US" sz="2100"/>
              <a:t> 발생량</a:t>
            </a:r>
            <a:endParaRPr lang="ko-KR" altLang="en-US" sz="2100"/>
          </a:p>
        </p:txBody>
      </p:sp>
      <p:sp>
        <p:nvSpPr>
          <p:cNvPr id="11" name="가로 글상자 10"/>
          <p:cNvSpPr txBox="1"/>
          <p:nvPr/>
        </p:nvSpPr>
        <p:spPr>
          <a:xfrm>
            <a:off x="7968233" y="2949702"/>
            <a:ext cx="2952370" cy="41071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100"/>
              <a:t>시간 패턴</a:t>
            </a:r>
            <a:r>
              <a:rPr lang="en-US" altLang="ko-KR" sz="2100"/>
              <a:t>/</a:t>
            </a:r>
            <a:r>
              <a:rPr lang="ko-KR" altLang="en-US" sz="2100"/>
              <a:t> 반복성 기반</a:t>
            </a:r>
            <a:endParaRPr lang="ko-KR" altLang="en-US" sz="2100"/>
          </a:p>
        </p:txBody>
      </p:sp>
      <p:sp>
        <p:nvSpPr>
          <p:cNvPr id="12" name="가로 글상자 11"/>
          <p:cNvSpPr txBox="1"/>
          <p:nvPr/>
        </p:nvSpPr>
        <p:spPr>
          <a:xfrm>
            <a:off x="7968233" y="3669792"/>
            <a:ext cx="2952370" cy="41452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100"/>
              <a:t>분포·비율 기반</a:t>
            </a:r>
            <a:endParaRPr lang="ko-KR" altLang="en-US" sz="2100"/>
          </a:p>
        </p:txBody>
      </p:sp>
      <p:sp>
        <p:nvSpPr>
          <p:cNvPr id="13" name="가로 글상자 12"/>
          <p:cNvSpPr txBox="1"/>
          <p:nvPr/>
        </p:nvSpPr>
        <p:spPr>
          <a:xfrm>
            <a:off x="7968233" y="4461891"/>
            <a:ext cx="2952370" cy="41300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100"/>
              <a:t>극단적 행위 감지</a:t>
            </a:r>
            <a:endParaRPr lang="ko-KR" altLang="en-US" sz="2100"/>
          </a:p>
        </p:txBody>
      </p:sp>
      <p:sp>
        <p:nvSpPr>
          <p:cNvPr id="15" name="가로 글상자 14"/>
          <p:cNvSpPr txBox="1"/>
          <p:nvPr/>
        </p:nvSpPr>
        <p:spPr>
          <a:xfrm>
            <a:off x="407289" y="2621280"/>
            <a:ext cx="6480809" cy="161544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sz="2000">
                <a:latin typeface="맑은 고딕"/>
              </a:rPr>
              <a:t>• 트래픽의 행위 패턴을 요약하는 통계적 feature 설계</a:t>
            </a:r>
            <a:endParaRPr lang="ko-KR" sz="2000">
              <a:latin typeface="맑은 고딕"/>
            </a:endParaRPr>
          </a:p>
          <a:p>
            <a:pPr lvl="0">
              <a:defRPr/>
            </a:pPr>
            <a:endParaRPr lang="ko-KR" sz="2000"/>
          </a:p>
          <a:p>
            <a:pPr lvl="0">
              <a:defRPr/>
            </a:pPr>
            <a:r>
              <a:rPr lang="ko-KR" sz="2000"/>
              <a:t>• 개별 요청이 아닌 세션/행동 단위 특성 반영</a:t>
            </a:r>
            <a:endParaRPr lang="ko-KR" sz="2000"/>
          </a:p>
          <a:p>
            <a:pPr lvl="0">
              <a:defRPr/>
            </a:pPr>
            <a:endParaRPr lang="ko-KR" sz="2000"/>
          </a:p>
          <a:p>
            <a:pPr lvl="0">
              <a:defRPr/>
            </a:pPr>
            <a:r>
              <a:rPr lang="ko-KR" sz="2000"/>
              <a:t>• 정상/의심 트래픽 간 행동 차이 포착 가능성 확인</a:t>
            </a:r>
            <a:endParaRPr lang="ko-KR" sz="2000"/>
          </a:p>
        </p:txBody>
      </p:sp>
    </p:spTree>
    <p:extLst>
      <p:ext uri="{BB962C8B-B14F-4D97-AF65-F5344CB8AC3E}">
        <p14:creationId xmlns:p14="http://schemas.microsoft.com/office/powerpoint/2010/main" val="377193530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5688711" cy="56921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3a3c84"/>
                </a:solidFill>
                <a:latin typeface="맑은 고딕"/>
              </a:rPr>
              <a:t>실험 결과 및 성능 평가</a:t>
            </a:r>
            <a:endParaRPr lang="ko-KR" altLang="en-US" sz="3200" b="1">
              <a:solidFill>
                <a:srgbClr val="3a3c84"/>
              </a:solidFill>
              <a:latin typeface="맑은 고딕"/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4943856" y="764667"/>
            <a:ext cx="6624828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1631441" y="2348865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88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4439792" y="2348865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0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631441" y="4005072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7" name="모서리가 둥근 직사각형 6"/>
          <p:cNvSpPr/>
          <p:nvPr/>
        </p:nvSpPr>
        <p:spPr>
          <a:xfrm>
            <a:off x="4439792" y="4005072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12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451" y="1772793"/>
            <a:ext cx="2448306" cy="360045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 algn="ctr">
              <a:defRPr/>
            </a:pPr>
            <a:r>
              <a:rPr lang="en-US" altLang="ko-KR">
                <a:latin typeface="맑은 고딕"/>
              </a:rPr>
              <a:t>POSITIVES</a:t>
            </a:r>
            <a:endParaRPr lang="en-US" altLang="ko-KR">
              <a:latin typeface="맑은 고딕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4511802" y="1772793"/>
            <a:ext cx="2448306" cy="360045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 algn="ctr">
              <a:defRPr/>
            </a:pPr>
            <a:r>
              <a:rPr lang="en-US" altLang="ko-KR">
                <a:latin typeface="맑은 고딕"/>
              </a:rPr>
              <a:t>NEGATIVES</a:t>
            </a:r>
            <a:endParaRPr lang="en-US" altLang="ko-KR">
              <a:latin typeface="맑은 고딕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83361" y="2492883"/>
            <a:ext cx="360045" cy="1368171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t" anchorCtr="0">
            <a:noAutofit/>
          </a:bodyPr>
          <a:p>
            <a:pPr lvl="0" algn="ctr">
              <a:defRPr/>
            </a:pPr>
            <a:r>
              <a:rPr lang="en-US" altLang="ko-KR">
                <a:latin typeface="맑은 고딕"/>
              </a:rPr>
              <a:t>POSITIVE</a:t>
            </a:r>
            <a:endParaRPr lang="en-US" altLang="ko-KR">
              <a:latin typeface="맑은 고딕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83361" y="4005072"/>
            <a:ext cx="360045" cy="1368171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/>
          <a:p>
            <a:pPr lvl="0" algn="ctr">
              <a:defRPr/>
            </a:pPr>
            <a:r>
              <a:rPr lang="en-US" altLang="ko-KR">
                <a:latin typeface="맑은 고딕"/>
              </a:rPr>
              <a:t>NEGATIVES</a:t>
            </a:r>
            <a:endParaRPr lang="en-US" altLang="ko-KR">
              <a:latin typeface="맑은 고딕"/>
            </a:endParaRPr>
          </a:p>
        </p:txBody>
      </p:sp>
      <p:sp>
        <p:nvSpPr>
          <p:cNvPr id="14" name="순서도: 대체 처리 13"/>
          <p:cNvSpPr/>
          <p:nvPr/>
        </p:nvSpPr>
        <p:spPr>
          <a:xfrm>
            <a:off x="2351526" y="2564886"/>
            <a:ext cx="1056017" cy="586529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008000"/>
                </a:solidFill>
                <a:latin typeface="맑은 고딕"/>
              </a:rPr>
              <a:t>TP</a:t>
            </a:r>
            <a:endParaRPr lang="en-US" altLang="ko-KR" sz="2900" b="1">
              <a:solidFill>
                <a:srgbClr val="008000"/>
              </a:solidFill>
              <a:latin typeface="맑은 고딕"/>
            </a:endParaRPr>
          </a:p>
        </p:txBody>
      </p:sp>
      <p:sp>
        <p:nvSpPr>
          <p:cNvPr id="15" name="순서도: 대체 처리 14"/>
          <p:cNvSpPr/>
          <p:nvPr/>
        </p:nvSpPr>
        <p:spPr>
          <a:xfrm>
            <a:off x="5231892" y="2555900"/>
            <a:ext cx="1056017" cy="585469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ff0000"/>
                </a:solidFill>
                <a:latin typeface="맑은 고딕"/>
              </a:rPr>
              <a:t>FP</a:t>
            </a:r>
            <a:endParaRPr lang="en-US" altLang="ko-KR" sz="29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16" name="순서도: 대체 처리 15"/>
          <p:cNvSpPr/>
          <p:nvPr/>
        </p:nvSpPr>
        <p:spPr>
          <a:xfrm>
            <a:off x="5231891" y="4212107"/>
            <a:ext cx="1056018" cy="586736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008000"/>
                </a:solidFill>
                <a:latin typeface="맑은 고딕"/>
              </a:rPr>
              <a:t>TN</a:t>
            </a:r>
            <a:endParaRPr lang="en-US" altLang="ko-KR" sz="2900" b="1">
              <a:solidFill>
                <a:srgbClr val="008000"/>
              </a:solidFill>
              <a:latin typeface="맑은 고딕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631441" y="4005072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2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18" name="순서도: 대체 처리 17"/>
          <p:cNvSpPr/>
          <p:nvPr/>
        </p:nvSpPr>
        <p:spPr>
          <a:xfrm>
            <a:off x="2423540" y="4212107"/>
            <a:ext cx="1056018" cy="586736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ff0000"/>
                </a:solidFill>
                <a:latin typeface="맑은 고딕"/>
              </a:rPr>
              <a:t>FN</a:t>
            </a:r>
            <a:endParaRPr lang="en-US" altLang="ko-KR" sz="29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896225" y="1124712"/>
            <a:ext cx="3528441" cy="5328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r>
              <a:rPr lang="ko-KR" altLang="en-US" sz="2800" b="1">
                <a:solidFill>
                  <a:srgbClr val="3a3c84"/>
                </a:solidFill>
              </a:rPr>
              <a:t>평가기</a:t>
            </a:r>
            <a:r>
              <a:rPr lang="ko-KR" altLang="en-US" sz="2800" b="1">
                <a:solidFill>
                  <a:srgbClr val="3a3c84"/>
                </a:solidFill>
                <a:latin typeface="맑은 고딕"/>
              </a:rPr>
              <a:t>준</a:t>
            </a:r>
            <a:endParaRPr lang="ko-KR" altLang="en-US" sz="2400" b="1">
              <a:solidFill>
                <a:srgbClr val="3a3c84"/>
              </a:solidFill>
              <a:latin typeface="맑은 고딕"/>
            </a:endParaRPr>
          </a:p>
          <a:p>
            <a:pPr lvl="0">
              <a:defRPr/>
            </a:pPr>
            <a:r>
              <a:rPr lang="en-US" altLang="ko-KR" sz="2400" b="1">
                <a:solidFill>
                  <a:srgbClr val="000000"/>
                </a:solidFill>
                <a:latin typeface="맑은 고딕"/>
              </a:rPr>
              <a:t>-&gt;</a:t>
            </a:r>
            <a:r>
              <a:rPr lang="ko-KR" altLang="en-US" sz="2400" b="1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sz="2400" b="0">
                <a:solidFill>
                  <a:srgbClr val="000000"/>
                </a:solidFill>
                <a:latin typeface="맑은 고딕"/>
              </a:rPr>
              <a:t>의심 트래픽</a:t>
            </a:r>
            <a:r>
              <a:rPr lang="ko-KR" altLang="en-US" sz="2400" b="0">
                <a:solidFill>
                  <a:srgbClr val="ff0000"/>
                </a:solidFill>
                <a:latin typeface="맑은 고딕"/>
              </a:rPr>
              <a:t> 오탐</a:t>
            </a:r>
            <a:r>
              <a:rPr lang="en-US" altLang="ko-KR" sz="2400" b="0">
                <a:solidFill>
                  <a:srgbClr val="ff0000"/>
                </a:solidFill>
                <a:latin typeface="맑은 고딕"/>
              </a:rPr>
              <a:t>(FP)</a:t>
            </a:r>
            <a:r>
              <a:rPr lang="ko-KR" altLang="en-US" sz="2400" b="0">
                <a:solidFill>
                  <a:srgbClr val="ff0000"/>
                </a:solidFill>
                <a:latin typeface="맑은 고딕"/>
              </a:rPr>
              <a:t> </a:t>
            </a:r>
            <a:r>
              <a:rPr lang="ko-KR" altLang="en-US" sz="2400" b="0">
                <a:solidFill>
                  <a:srgbClr val="000000"/>
                </a:solidFill>
                <a:latin typeface="맑은 고딕"/>
              </a:rPr>
              <a:t>최소화</a:t>
            </a:r>
            <a:endParaRPr lang="ko-KR" altLang="en-US" sz="2400" b="0">
              <a:solidFill>
                <a:srgbClr val="000000"/>
              </a:solidFill>
              <a:latin typeface="맑은 고딕"/>
            </a:endParaRPr>
          </a:p>
          <a:p>
            <a:pPr lvl="0">
              <a:defRPr/>
            </a:pP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lvl="0">
              <a:defRPr/>
            </a:pPr>
            <a:r>
              <a:rPr lang="ko-KR" altLang="en-US" sz="2800" b="1">
                <a:solidFill>
                  <a:srgbClr val="3a3c84"/>
                </a:solidFill>
                <a:latin typeface="맑은 고딕"/>
              </a:rPr>
              <a:t>핵심 결과</a:t>
            </a: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en-US" altLang="ko-KR" sz="2400" b="0">
                <a:solidFill>
                  <a:srgbClr val="3a3c84"/>
                </a:solidFill>
                <a:latin typeface="맑은 고딕"/>
              </a:rPr>
              <a:t>R</a:t>
            </a:r>
            <a:r>
              <a:rPr lang="en-US" altLang="ko-KR" sz="2400" b="0">
                <a:solidFill>
                  <a:srgbClr val="000000"/>
                </a:solidFill>
                <a:latin typeface="맑은 고딕"/>
              </a:rPr>
              <a:t>ecall(Suspicious): </a:t>
            </a:r>
            <a:r>
              <a:rPr lang="en-US" altLang="ko-KR" sz="2400" b="0">
                <a:solidFill>
                  <a:srgbClr val="ff0000"/>
                </a:solidFill>
                <a:latin typeface="맑은 고딕"/>
              </a:rPr>
              <a:t>0.86</a:t>
            </a:r>
            <a:endParaRPr lang="en-US" altLang="ko-KR" sz="2400" b="0">
              <a:solidFill>
                <a:srgbClr val="ff0000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en-US" altLang="ko-KR" sz="2400" b="0">
                <a:solidFill>
                  <a:srgbClr val="000000"/>
                </a:solidFill>
                <a:latin typeface="맑은 고딕"/>
              </a:rPr>
              <a:t>False Negative : 2</a:t>
            </a:r>
            <a:r>
              <a:rPr lang="ko-KR" altLang="en-US" sz="2400" b="0">
                <a:solidFill>
                  <a:srgbClr val="000000"/>
                </a:solidFill>
                <a:latin typeface="맑은 고딕"/>
              </a:rPr>
              <a:t>건</a:t>
            </a:r>
            <a:endParaRPr lang="ko-KR" altLang="en-US" sz="2400" b="0">
              <a:solidFill>
                <a:srgbClr val="000000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2800" b="1">
                <a:solidFill>
                  <a:srgbClr val="3a3c84"/>
                </a:solidFill>
                <a:latin typeface="맑은 고딕"/>
              </a:rPr>
              <a:t>해석</a:t>
            </a:r>
            <a:endParaRPr lang="ko-KR" altLang="en-US" sz="2800" b="1">
              <a:solidFill>
                <a:srgbClr val="3a3c84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ko-KR" altLang="en-US" sz="2000" b="0">
                <a:solidFill>
                  <a:srgbClr val="000000"/>
                </a:solidFill>
                <a:latin typeface="맑은 고딕"/>
              </a:rPr>
              <a:t>정상 트래픽을 의심으로 잘못 판단하지 않는 보수적 탐지 성향</a:t>
            </a:r>
            <a:endParaRPr lang="ko-KR" altLang="en-US" sz="2000" b="0">
              <a:solidFill>
                <a:srgbClr val="000000"/>
              </a:solidFill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endParaRPr lang="ko-KR" altLang="en-US" sz="2000" b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가로 글상자 20"/>
          <p:cNvSpPr txBox="1"/>
          <p:nvPr/>
        </p:nvSpPr>
        <p:spPr>
          <a:xfrm>
            <a:off x="623316" y="1196721"/>
            <a:ext cx="3240404" cy="392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000">
                <a:solidFill>
                  <a:srgbClr val="3a3c84"/>
                </a:solidFill>
                <a:latin typeface="맑은 고딕"/>
              </a:rPr>
              <a:t>Random Forest</a:t>
            </a:r>
            <a:endParaRPr lang="en-US" altLang="ko-KR" sz="2000">
              <a:solidFill>
                <a:srgbClr val="3a3c84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2944649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5688711" cy="56921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3a3c84"/>
                </a:solidFill>
                <a:latin typeface="맑은 고딕"/>
              </a:rPr>
              <a:t>실험 결과 및 성능 평가</a:t>
            </a:r>
            <a:endParaRPr lang="ko-KR" altLang="en-US" sz="3200" b="1">
              <a:solidFill>
                <a:srgbClr val="3a3c84"/>
              </a:solidFill>
              <a:latin typeface="맑은 고딕"/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4943856" y="764667"/>
            <a:ext cx="6624828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1631441" y="2348865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82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4439792" y="2348865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6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631441" y="4005072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7" name="모서리가 둥근 직사각형 6"/>
          <p:cNvSpPr/>
          <p:nvPr/>
        </p:nvSpPr>
        <p:spPr>
          <a:xfrm>
            <a:off x="4439792" y="4005072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13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451" y="1772793"/>
            <a:ext cx="2448306" cy="360045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 algn="ctr">
              <a:defRPr/>
            </a:pPr>
            <a:r>
              <a:rPr lang="en-US" altLang="ko-KR">
                <a:latin typeface="맑은 고딕"/>
              </a:rPr>
              <a:t>POSITIVES</a:t>
            </a:r>
            <a:endParaRPr lang="en-US" altLang="ko-KR">
              <a:latin typeface="맑은 고딕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4511802" y="1772793"/>
            <a:ext cx="2448306" cy="360045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 algn="ctr">
              <a:defRPr/>
            </a:pPr>
            <a:r>
              <a:rPr lang="en-US" altLang="ko-KR">
                <a:latin typeface="맑은 고딕"/>
              </a:rPr>
              <a:t>NEGATIVES</a:t>
            </a:r>
            <a:endParaRPr lang="en-US" altLang="ko-KR">
              <a:latin typeface="맑은 고딕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83361" y="2492883"/>
            <a:ext cx="360045" cy="1368171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t" anchorCtr="0">
            <a:noAutofit/>
          </a:bodyPr>
          <a:p>
            <a:pPr lvl="0" algn="ctr">
              <a:defRPr/>
            </a:pPr>
            <a:r>
              <a:rPr lang="en-US" altLang="ko-KR">
                <a:latin typeface="맑은 고딕"/>
              </a:rPr>
              <a:t>POSITIVE</a:t>
            </a:r>
            <a:endParaRPr lang="en-US" altLang="ko-KR">
              <a:latin typeface="맑은 고딕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83361" y="4005072"/>
            <a:ext cx="360045" cy="1368171"/>
          </a:xfrm>
          <a:prstGeom prst="roundRect">
            <a:avLst>
              <a:gd name="adj" fmla="val 16667"/>
            </a:avLst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/>
          <a:p>
            <a:pPr lvl="0" algn="ctr">
              <a:defRPr/>
            </a:pPr>
            <a:r>
              <a:rPr lang="en-US" altLang="ko-KR">
                <a:latin typeface="맑은 고딕"/>
              </a:rPr>
              <a:t>NEGATIVES</a:t>
            </a:r>
            <a:endParaRPr lang="en-US" altLang="ko-KR">
              <a:latin typeface="맑은 고딕"/>
            </a:endParaRPr>
          </a:p>
        </p:txBody>
      </p:sp>
      <p:sp>
        <p:nvSpPr>
          <p:cNvPr id="14" name="순서도: 대체 처리 13"/>
          <p:cNvSpPr/>
          <p:nvPr/>
        </p:nvSpPr>
        <p:spPr>
          <a:xfrm>
            <a:off x="2351526" y="2564886"/>
            <a:ext cx="1056017" cy="586529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008000"/>
                </a:solidFill>
                <a:latin typeface="맑은 고딕"/>
              </a:rPr>
              <a:t>TP</a:t>
            </a:r>
            <a:endParaRPr lang="en-US" altLang="ko-KR" sz="2900" b="1">
              <a:solidFill>
                <a:srgbClr val="008000"/>
              </a:solidFill>
              <a:latin typeface="맑은 고딕"/>
            </a:endParaRPr>
          </a:p>
        </p:txBody>
      </p:sp>
      <p:sp>
        <p:nvSpPr>
          <p:cNvPr id="15" name="순서도: 대체 처리 14"/>
          <p:cNvSpPr/>
          <p:nvPr/>
        </p:nvSpPr>
        <p:spPr>
          <a:xfrm>
            <a:off x="5231892" y="2555900"/>
            <a:ext cx="1056017" cy="585469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ff0000"/>
                </a:solidFill>
                <a:latin typeface="맑은 고딕"/>
              </a:rPr>
              <a:t>FP</a:t>
            </a:r>
            <a:endParaRPr lang="en-US" altLang="ko-KR" sz="29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16" name="순서도: 대체 처리 15"/>
          <p:cNvSpPr/>
          <p:nvPr/>
        </p:nvSpPr>
        <p:spPr>
          <a:xfrm>
            <a:off x="5231891" y="4212107"/>
            <a:ext cx="1056018" cy="586736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008000"/>
                </a:solidFill>
                <a:latin typeface="맑은 고딕"/>
              </a:rPr>
              <a:t>TN</a:t>
            </a:r>
            <a:endParaRPr lang="en-US" altLang="ko-KR" sz="2900" b="1">
              <a:solidFill>
                <a:srgbClr val="008000"/>
              </a:solidFill>
              <a:latin typeface="맑은 고딕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631441" y="4005072"/>
            <a:ext cx="2592324" cy="1440180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0"/>
          <a:p>
            <a:pPr lvl="0" algn="ctr">
              <a:defRPr/>
            </a:pPr>
            <a:r>
              <a:rPr lang="en-US" altLang="ko-KR" sz="3600">
                <a:solidFill>
                  <a:srgbClr val="3a3c84"/>
                </a:solidFill>
              </a:rPr>
              <a:t>1</a:t>
            </a:r>
            <a:endParaRPr lang="en-US" altLang="ko-KR" sz="3600">
              <a:solidFill>
                <a:srgbClr val="3a3c84"/>
              </a:solidFill>
            </a:endParaRPr>
          </a:p>
        </p:txBody>
      </p:sp>
      <p:sp>
        <p:nvSpPr>
          <p:cNvPr id="18" name="순서도: 대체 처리 17"/>
          <p:cNvSpPr/>
          <p:nvPr/>
        </p:nvSpPr>
        <p:spPr>
          <a:xfrm>
            <a:off x="2423540" y="4212107"/>
            <a:ext cx="1056018" cy="586736"/>
          </a:xfrm>
          <a:prstGeom prst="flowChartAlternateProcess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900" b="1">
                <a:solidFill>
                  <a:srgbClr val="ff0000"/>
                </a:solidFill>
                <a:latin typeface="맑은 고딕"/>
              </a:rPr>
              <a:t>FN</a:t>
            </a:r>
            <a:endParaRPr lang="en-US" altLang="ko-KR" sz="29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896225" y="1124712"/>
            <a:ext cx="3528441" cy="5328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r>
              <a:rPr lang="ko-KR" altLang="en-US" sz="2800" b="1">
                <a:solidFill>
                  <a:srgbClr val="3a3c84"/>
                </a:solidFill>
              </a:rPr>
              <a:t>평가기</a:t>
            </a:r>
            <a:r>
              <a:rPr lang="ko-KR" altLang="en-US" sz="2800" b="1">
                <a:solidFill>
                  <a:srgbClr val="3a3c84"/>
                </a:solidFill>
                <a:latin typeface="맑은 고딕"/>
              </a:rPr>
              <a:t>준</a:t>
            </a:r>
            <a:endParaRPr lang="ko-KR" altLang="en-US" sz="2400" b="1">
              <a:solidFill>
                <a:srgbClr val="3a3c84"/>
              </a:solidFill>
              <a:latin typeface="맑은 고딕"/>
            </a:endParaRPr>
          </a:p>
          <a:p>
            <a:pPr lvl="0">
              <a:defRPr/>
            </a:pPr>
            <a:r>
              <a:rPr lang="en-US" altLang="ko-KR" sz="2400" b="1">
                <a:solidFill>
                  <a:srgbClr val="000000"/>
                </a:solidFill>
                <a:latin typeface="맑은 고딕"/>
              </a:rPr>
              <a:t>-&gt;</a:t>
            </a:r>
            <a:r>
              <a:rPr lang="ko-KR" altLang="en-US" sz="2400" b="1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sz="2400" b="0">
                <a:solidFill>
                  <a:srgbClr val="000000"/>
                </a:solidFill>
                <a:latin typeface="맑은 고딕"/>
              </a:rPr>
              <a:t>의심 트래픽 </a:t>
            </a:r>
            <a:r>
              <a:rPr lang="ko-KR" altLang="en-US" sz="2400" b="0">
                <a:solidFill>
                  <a:srgbClr val="ff0000"/>
                </a:solidFill>
                <a:latin typeface="맑은 고딕"/>
              </a:rPr>
              <a:t>미탐</a:t>
            </a:r>
            <a:r>
              <a:rPr lang="en-US" altLang="ko-KR" sz="2400" b="0">
                <a:solidFill>
                  <a:srgbClr val="ff0000"/>
                </a:solidFill>
                <a:latin typeface="맑은 고딕"/>
              </a:rPr>
              <a:t>(FN</a:t>
            </a:r>
            <a:r>
              <a:rPr lang="en-US" altLang="ko-KR" sz="2400" b="0">
                <a:solidFill>
                  <a:srgbClr val="000000"/>
                </a:solidFill>
                <a:latin typeface="맑은 고딕"/>
              </a:rPr>
              <a:t>)</a:t>
            </a:r>
            <a:r>
              <a:rPr lang="ko-KR" altLang="en-US" sz="2400" b="0">
                <a:solidFill>
                  <a:srgbClr val="000000"/>
                </a:solidFill>
                <a:latin typeface="맑은 고딕"/>
              </a:rPr>
              <a:t> 최소화</a:t>
            </a:r>
            <a:endParaRPr lang="ko-KR" altLang="en-US" sz="2400" b="0">
              <a:solidFill>
                <a:srgbClr val="000000"/>
              </a:solidFill>
              <a:latin typeface="맑은 고딕"/>
            </a:endParaRPr>
          </a:p>
          <a:p>
            <a:pPr lvl="0">
              <a:defRPr/>
            </a:pP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lvl="0">
              <a:defRPr/>
            </a:pPr>
            <a:r>
              <a:rPr lang="ko-KR" altLang="en-US" sz="2800" b="1">
                <a:solidFill>
                  <a:srgbClr val="3a3c84"/>
                </a:solidFill>
                <a:latin typeface="맑은 고딕"/>
              </a:rPr>
              <a:t>핵심 결과</a:t>
            </a: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en-US" altLang="ko-KR" sz="2400" b="0">
                <a:solidFill>
                  <a:srgbClr val="3a3c84"/>
                </a:solidFill>
                <a:latin typeface="맑은 고딕"/>
              </a:rPr>
              <a:t>R</a:t>
            </a:r>
            <a:r>
              <a:rPr lang="en-US" altLang="ko-KR" sz="2400" b="0">
                <a:solidFill>
                  <a:srgbClr val="000000"/>
                </a:solidFill>
                <a:latin typeface="맑은 고딕"/>
              </a:rPr>
              <a:t>ecall(Suspicious): </a:t>
            </a:r>
            <a:r>
              <a:rPr lang="en-US" altLang="ko-KR" sz="2400" b="0">
                <a:solidFill>
                  <a:srgbClr val="ff0000"/>
                </a:solidFill>
                <a:latin typeface="맑은 고딕"/>
              </a:rPr>
              <a:t>0.93</a:t>
            </a:r>
            <a:endParaRPr lang="en-US" altLang="ko-KR" sz="2400" b="0">
              <a:solidFill>
                <a:srgbClr val="ff0000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en-US" altLang="ko-KR" sz="2400" b="0">
                <a:solidFill>
                  <a:srgbClr val="000000"/>
                </a:solidFill>
                <a:latin typeface="맑은 고딕"/>
              </a:rPr>
              <a:t>False Negative : 1</a:t>
            </a:r>
            <a:r>
              <a:rPr lang="ko-KR" altLang="en-US" sz="2400" b="0">
                <a:solidFill>
                  <a:srgbClr val="000000"/>
                </a:solidFill>
                <a:latin typeface="맑은 고딕"/>
              </a:rPr>
              <a:t>건</a:t>
            </a: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2800" b="1">
                <a:solidFill>
                  <a:srgbClr val="3a3c84"/>
                </a:solidFill>
                <a:latin typeface="맑은 고딕"/>
              </a:rPr>
              <a:t>해석</a:t>
            </a:r>
            <a:endParaRPr lang="ko-KR" altLang="en-US" sz="2400" b="0">
              <a:solidFill>
                <a:srgbClr val="3a3c84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ko-KR" altLang="en-US" sz="2200" b="0">
                <a:solidFill>
                  <a:srgbClr val="000000"/>
                </a:solidFill>
                <a:latin typeface="맑은 고딕"/>
              </a:rPr>
              <a:t>대부분의 의심 트래픽을 탐지</a:t>
            </a:r>
            <a:endParaRPr lang="ko-KR" altLang="en-US" sz="2200" b="0">
              <a:solidFill>
                <a:srgbClr val="000000"/>
              </a:solidFill>
              <a:latin typeface="맑은 고딕"/>
            </a:endParaRPr>
          </a:p>
          <a:p>
            <a:pPr marL="342720" lvl="0" indent="-342720">
              <a:buFont typeface="Arial"/>
              <a:buChar char="•"/>
              <a:defRPr/>
            </a:pPr>
            <a:r>
              <a:rPr lang="ko-KR" altLang="en-US" sz="2200" b="0">
                <a:solidFill>
                  <a:srgbClr val="000000"/>
                </a:solidFill>
                <a:latin typeface="맑은 고딕"/>
              </a:rPr>
              <a:t>일부 오탐은 보안 관점에서 허용 가능</a:t>
            </a:r>
            <a:endParaRPr lang="ko-KR" altLang="en-US" sz="2200" b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가로 글상자 20"/>
          <p:cNvSpPr txBox="1"/>
          <p:nvPr/>
        </p:nvSpPr>
        <p:spPr>
          <a:xfrm>
            <a:off x="623316" y="1196721"/>
            <a:ext cx="3240404" cy="392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000">
                <a:solidFill>
                  <a:srgbClr val="3a3c84"/>
                </a:solidFill>
                <a:latin typeface="맑은 고딕"/>
              </a:rPr>
              <a:t>Logistic Regression</a:t>
            </a:r>
            <a:endParaRPr lang="en-US" altLang="ko-KR" sz="2000">
              <a:solidFill>
                <a:srgbClr val="3a3c84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73021831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5688711" cy="56921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3a3c84"/>
                </a:solidFill>
                <a:latin typeface="맑은 고딕"/>
              </a:rPr>
              <a:t>실험 결과 및 성능 평가</a:t>
            </a:r>
            <a:endParaRPr lang="ko-KR" altLang="en-US" sz="3200" b="1">
              <a:solidFill>
                <a:srgbClr val="3a3c84"/>
              </a:solidFill>
              <a:latin typeface="맑은 고딕"/>
            </a:endParaRPr>
          </a:p>
        </p:txBody>
      </p:sp>
      <p:cxnSp>
        <p:nvCxnSpPr>
          <p:cNvPr id="3" name="선 2"/>
          <p:cNvCxnSpPr/>
          <p:nvPr/>
        </p:nvCxnSpPr>
        <p:spPr>
          <a:xfrm>
            <a:off x="4943856" y="764667"/>
            <a:ext cx="6624828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911352" y="1276350"/>
          <a:ext cx="9859256" cy="2533650"/>
        </p:xfrm>
        <a:graphic>
          <a:graphicData uri="http://schemas.openxmlformats.org/drawingml/2006/table">
            <a:tbl>
              <a:tblPr firstRow="1" bandRow="1"/>
              <a:tblGrid>
                <a:gridCol w="3135630"/>
                <a:gridCol w="3464575"/>
                <a:gridCol w="3259050"/>
              </a:tblGrid>
              <a:tr h="262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0">
                      <a:noFill/>
                    </a:lnT>
                    <a:lnB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Logistic Regression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0">
                      <a:noFill/>
                    </a:lnT>
                    <a:lnB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Random Forest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0">
                      <a:noFill/>
                    </a:lnT>
                    <a:lnB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성향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우선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보수적 탐지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80808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False Negative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False Positive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 (Suspicious)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0.857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Precision (Suspicious)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0.68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xmlns:mc="http://schemas.openxmlformats.org/markup-compatibility/2006" xmlns:hp="http://schemas.haansoft.com/office/presentation/8.0" sz="16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적합한 상황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탐지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차단/알림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f2f2f2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모서리가 둥근 직사각형 22"/>
          <p:cNvSpPr/>
          <p:nvPr/>
        </p:nvSpPr>
        <p:spPr>
          <a:xfrm>
            <a:off x="1199388" y="4005072"/>
            <a:ext cx="9649206" cy="2520315"/>
          </a:xfrm>
          <a:prstGeom prst="roundRect">
            <a:avLst>
              <a:gd name="adj" fmla="val 16667"/>
            </a:avLst>
          </a:prstGeom>
          <a:noFill/>
          <a:effectLst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r>
              <a:rPr lang="ko-KR" altLang="en-US" sz="2400" b="1">
                <a:solidFill>
                  <a:srgbClr val="3a3c84"/>
                </a:solidFill>
                <a:effectLst/>
              </a:rPr>
              <a:t>모델 비교</a:t>
            </a:r>
            <a:endParaRPr lang="ko-KR" altLang="en-US" sz="2400">
              <a:solidFill>
                <a:srgbClr val="000000"/>
              </a:solidFill>
              <a:effectLst/>
            </a:endParaRPr>
          </a:p>
          <a:p>
            <a:pPr lvl="0">
              <a:defRPr/>
            </a:pPr>
            <a:r>
              <a:rPr lang="en-US" altLang="ko-KR" sz="2000">
                <a:solidFill>
                  <a:srgbClr val="000000"/>
                </a:solidFill>
                <a:effectLst/>
                <a:latin typeface="맑은 고딕"/>
              </a:rPr>
              <a:t>Logistic Regression</a:t>
            </a:r>
            <a:r>
              <a:rPr lang="ko-KR" altLang="en-US" sz="200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lang="en-US" altLang="ko-KR" sz="2000">
                <a:solidFill>
                  <a:srgbClr val="000000"/>
                </a:solidFill>
                <a:effectLst/>
                <a:latin typeface="맑은 고딕"/>
              </a:rPr>
              <a:t>|</a:t>
            </a:r>
            <a:r>
              <a:rPr lang="ko-KR" altLang="en-US" sz="2000">
                <a:solidFill>
                  <a:srgbClr val="000000"/>
                </a:solidFill>
                <a:effectLst/>
                <a:latin typeface="맑은 고딕"/>
              </a:rPr>
              <a:t> 의심 트래픽 </a:t>
            </a:r>
            <a:r>
              <a:rPr lang="ko-KR" altLang="en-US" sz="2000">
                <a:solidFill>
                  <a:srgbClr val="ff0000"/>
                </a:solidFill>
                <a:effectLst/>
                <a:latin typeface="맑은 고딕"/>
              </a:rPr>
              <a:t>미탐을 최소화</a:t>
            </a:r>
            <a:r>
              <a:rPr lang="ko-KR" altLang="en-US" sz="2000">
                <a:solidFill>
                  <a:srgbClr val="000000"/>
                </a:solidFill>
                <a:effectLst/>
                <a:latin typeface="맑은 고딕"/>
              </a:rPr>
              <a:t>하는 탐지 성향을 보임</a:t>
            </a:r>
            <a:endParaRPr lang="ko-KR" altLang="en-US" sz="2000">
              <a:solidFill>
                <a:srgbClr val="000000"/>
              </a:solidFill>
              <a:effectLst/>
              <a:latin typeface="맑은 고딕"/>
            </a:endParaRPr>
          </a:p>
          <a:p>
            <a:pPr lvl="0">
              <a:defRPr/>
            </a:pPr>
            <a:r>
              <a:rPr lang="en-US" altLang="ko-KR" sz="2000">
                <a:solidFill>
                  <a:srgbClr val="000000"/>
                </a:solidFill>
                <a:effectLst/>
                <a:latin typeface="맑은 고딕"/>
              </a:rPr>
              <a:t>Random Forest |　</a:t>
            </a:r>
            <a:r>
              <a:rPr lang="ko-KR" altLang="en-US" sz="2000">
                <a:solidFill>
                  <a:srgbClr val="000000"/>
                </a:solidFill>
                <a:effectLst/>
                <a:latin typeface="맑은 고딕"/>
              </a:rPr>
              <a:t>오탐을 거의 발생시키지 않는 </a:t>
            </a:r>
            <a:r>
              <a:rPr lang="ko-KR" altLang="en-US" sz="2000">
                <a:solidFill>
                  <a:srgbClr val="ff0000"/>
                </a:solidFill>
                <a:effectLst/>
                <a:latin typeface="맑은 고딕"/>
              </a:rPr>
              <a:t>보수적 탐지 특성</a:t>
            </a:r>
            <a:r>
              <a:rPr lang="ko-KR" altLang="en-US" sz="2000">
                <a:solidFill>
                  <a:srgbClr val="000000"/>
                </a:solidFill>
                <a:effectLst/>
                <a:latin typeface="맑은 고딕"/>
              </a:rPr>
              <a:t>을 보임</a:t>
            </a:r>
            <a:endParaRPr lang="ko-KR" altLang="en-US" sz="2000">
              <a:solidFill>
                <a:srgbClr val="000000"/>
              </a:solidFill>
              <a:effectLst/>
              <a:latin typeface="맑은 고딕"/>
            </a:endParaRPr>
          </a:p>
          <a:p>
            <a:pPr lvl="0">
              <a:defRPr/>
            </a:pPr>
            <a:endParaRPr lang="ko-KR" altLang="en-US" sz="2000">
              <a:solidFill>
                <a:srgbClr val="000000"/>
              </a:solidFill>
              <a:effectLst/>
              <a:latin typeface="맑은 고딕"/>
            </a:endParaRPr>
          </a:p>
          <a:p>
            <a:pPr lvl="0">
              <a:defRPr/>
            </a:pPr>
            <a:r>
              <a:rPr lang="ko-KR" altLang="en-US" sz="2400" b="1">
                <a:solidFill>
                  <a:srgbClr val="3a3c84"/>
                </a:solidFill>
                <a:effectLst/>
                <a:latin typeface="맑은 고딕"/>
              </a:rPr>
              <a:t>최종판단</a:t>
            </a:r>
            <a:endParaRPr lang="ko-KR" altLang="en-US" sz="2400">
              <a:solidFill>
                <a:srgbClr val="3a3c84"/>
              </a:solidFill>
              <a:effectLst/>
              <a:latin typeface="맑은 고딕"/>
            </a:endParaRPr>
          </a:p>
          <a:p>
            <a:pPr lvl="0">
              <a:defRPr/>
            </a:pPr>
            <a:r>
              <a:rPr lang="ko-KR" altLang="en-US" sz="2000" b="1">
                <a:solidFill>
                  <a:srgbClr val="3a3c84"/>
                </a:solidFill>
                <a:effectLst/>
                <a:latin typeface="맑은 고딕"/>
              </a:rPr>
              <a:t>본 프로젝트에서는 의심 트래픽 미탐 최소화를 더 중요하게 고려하여</a:t>
            </a:r>
            <a:endParaRPr lang="ko-KR" altLang="en-US" sz="2000" b="1">
              <a:solidFill>
                <a:srgbClr val="3a3c84"/>
              </a:solidFill>
              <a:effectLst/>
              <a:latin typeface="맑은 고딕"/>
            </a:endParaRPr>
          </a:p>
          <a:p>
            <a:pPr lvl="0">
              <a:defRPr/>
            </a:pPr>
            <a:r>
              <a:rPr lang="ko-KR" altLang="en-US" sz="2000" b="1">
                <a:solidFill>
                  <a:srgbClr val="3a3c84"/>
                </a:solidFill>
                <a:effectLst/>
                <a:latin typeface="맑은 고딕"/>
              </a:rPr>
              <a:t> </a:t>
            </a:r>
            <a:r>
              <a:rPr lang="en-US" altLang="ko-KR" sz="2000" b="1">
                <a:solidFill>
                  <a:srgbClr val="3a3c84"/>
                </a:solidFill>
                <a:effectLst/>
                <a:latin typeface="맑은 고딕"/>
              </a:rPr>
              <a:t>Logistic Regression</a:t>
            </a:r>
            <a:r>
              <a:rPr lang="ko-KR" altLang="en-US" sz="2000" b="1">
                <a:solidFill>
                  <a:srgbClr val="3a3c84"/>
                </a:solidFill>
                <a:effectLst/>
                <a:latin typeface="맑은 고딕"/>
              </a:rPr>
              <a:t>을 최종 모델로 판단함</a:t>
            </a:r>
            <a:endParaRPr lang="ko-KR" altLang="en-US" sz="2000" b="1">
              <a:solidFill>
                <a:srgbClr val="3a3c84"/>
              </a:solidFill>
              <a:effectLst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8510137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52031" y="432054"/>
            <a:ext cx="4536567" cy="57454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3a3c84"/>
                </a:solidFill>
              </a:rPr>
              <a:t>결과 및 시사점</a:t>
            </a:r>
            <a:r>
              <a:rPr lang="ko-KR" altLang="en-US"/>
              <a:t> </a:t>
            </a:r>
            <a:endParaRPr lang="ko-KR" altLang="en-US"/>
          </a:p>
        </p:txBody>
      </p:sp>
      <p:cxnSp>
        <p:nvCxnSpPr>
          <p:cNvPr id="3" name="선 2"/>
          <p:cNvCxnSpPr/>
          <p:nvPr/>
        </p:nvCxnSpPr>
        <p:spPr>
          <a:xfrm>
            <a:off x="3287649" y="764667"/>
            <a:ext cx="8483881" cy="0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15790" r="3450" b="21050"/>
          <a:stretch>
            <a:fillRect/>
          </a:stretch>
        </p:blipFill>
        <p:spPr>
          <a:xfrm>
            <a:off x="983361" y="1340739"/>
            <a:ext cx="3888486" cy="16562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83361" y="3140964"/>
            <a:ext cx="3888486" cy="3240405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5519927" y="1743074"/>
            <a:ext cx="6264784" cy="45662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sz="2400" b="1">
                <a:solidFill>
                  <a:srgbClr val="3a3c84"/>
                </a:solidFill>
              </a:rPr>
              <a:t>결과</a:t>
            </a:r>
            <a:endParaRPr lang="ko-KR" sz="2400" b="1">
              <a:solidFill>
                <a:srgbClr val="3a3c84"/>
              </a:solidFill>
            </a:endParaRPr>
          </a:p>
          <a:p>
            <a:pPr lvl="0">
              <a:defRPr/>
            </a:pPr>
            <a:endParaRPr lang="ko-KR" sz="1400" b="1">
              <a:solidFill>
                <a:srgbClr val="3a3c84"/>
              </a:solidFill>
            </a:endParaRPr>
          </a:p>
          <a:p>
            <a:pPr lvl="0">
              <a:defRPr/>
            </a:pPr>
            <a:r>
              <a:rPr lang="ko-KR"/>
              <a:t>• 행위 기반 feature만으로 의심 트래픽 탐지 가능성 확인</a:t>
            </a:r>
            <a:endParaRPr lang="ko-KR"/>
          </a:p>
          <a:p>
            <a:pPr lvl="0">
              <a:defRPr/>
            </a:pPr>
            <a:r>
              <a:rPr lang="ko-KR"/>
              <a:t>• 탐지 우선 전략에 적합한 모델 선택</a:t>
            </a:r>
            <a:endParaRPr lang="ko-KR"/>
          </a:p>
          <a:p>
            <a:pPr lvl="0">
              <a:defRPr/>
            </a:pPr>
            <a:endParaRPr lang="ko-KR"/>
          </a:p>
          <a:p>
            <a:pPr lvl="0">
              <a:defRPr/>
            </a:pPr>
            <a:r>
              <a:rPr lang="ko-KR" sz="2400" b="1">
                <a:solidFill>
                  <a:srgbClr val="3a3c84"/>
                </a:solidFill>
              </a:rPr>
              <a:t>시스템 적용 결과</a:t>
            </a:r>
            <a:endParaRPr lang="ko-KR" sz="2400" b="1">
              <a:solidFill>
                <a:srgbClr val="3a3c84"/>
              </a:solidFill>
            </a:endParaRPr>
          </a:p>
          <a:p>
            <a:pPr lvl="0">
              <a:defRPr/>
            </a:pPr>
            <a:r>
              <a:rPr lang="ko-KR" altLang="en-US" sz="1400" b="1">
                <a:solidFill>
                  <a:srgbClr val="3a3c84"/>
                </a:solidFill>
              </a:rPr>
              <a:t> </a:t>
            </a:r>
            <a:endParaRPr lang="ko-KR" altLang="en-US" sz="1400" b="1">
              <a:solidFill>
                <a:srgbClr val="3a3c84"/>
              </a:solidFill>
            </a:endParaRPr>
          </a:p>
          <a:p>
            <a:pPr lvl="0">
              <a:defRPr/>
            </a:pPr>
            <a:r>
              <a:rPr lang="ko-KR"/>
              <a:t>• 브라우저 기반 실시간 트래픽 스캔</a:t>
            </a:r>
            <a:endParaRPr lang="ko-KR"/>
          </a:p>
          <a:p>
            <a:pPr lvl="0">
              <a:defRPr/>
            </a:pPr>
            <a:r>
              <a:rPr lang="ko-KR"/>
              <a:t>• 임계값 초과</a:t>
            </a:r>
            <a:r>
              <a:rPr lang="en-US" altLang="ko-KR"/>
              <a:t>(</a:t>
            </a:r>
            <a:r>
              <a:rPr lang="en-US" altLang="ko-KR">
                <a:latin typeface="맑은 고딕"/>
              </a:rPr>
              <a:t>0.8</a:t>
            </a:r>
            <a:r>
              <a:rPr lang="en-US" altLang="ko-KR"/>
              <a:t>)</a:t>
            </a:r>
            <a:r>
              <a:rPr lang="ko-KR"/>
              <a:t> 시 사용자 경고 알림 표시</a:t>
            </a:r>
            <a:endParaRPr lang="ko-KR"/>
          </a:p>
          <a:p>
            <a:pPr lvl="0">
              <a:defRPr/>
            </a:pPr>
            <a:endParaRPr lang="ko-KR"/>
          </a:p>
          <a:p>
            <a:pPr lvl="0">
              <a:defRPr/>
            </a:pPr>
            <a:r>
              <a:rPr lang="ko-KR" sz="2400" b="1">
                <a:solidFill>
                  <a:srgbClr val="3a3c84"/>
                </a:solidFill>
              </a:rPr>
              <a:t>시사점</a:t>
            </a:r>
            <a:endParaRPr lang="ko-KR" sz="2400" b="1">
              <a:solidFill>
                <a:srgbClr val="3a3c84"/>
              </a:solidFill>
            </a:endParaRPr>
          </a:p>
          <a:p>
            <a:pPr lvl="0">
              <a:defRPr/>
            </a:pPr>
            <a:r>
              <a:rPr lang="ko-KR" altLang="en-US" sz="1400" b="1">
                <a:solidFill>
                  <a:srgbClr val="3a3c84"/>
                </a:solidFill>
              </a:rPr>
              <a:t> </a:t>
            </a:r>
            <a:endParaRPr lang="ko-KR" altLang="en-US" sz="1400" b="1">
              <a:solidFill>
                <a:srgbClr val="3a3c84"/>
              </a:solidFill>
            </a:endParaRPr>
          </a:p>
          <a:p>
            <a:pPr lvl="0">
              <a:defRPr/>
            </a:pPr>
            <a:r>
              <a:rPr lang="ko-KR"/>
              <a:t>• 실험 결과를 실제 사용자 경고로 연결</a:t>
            </a:r>
            <a:endParaRPr lang="ko-KR"/>
          </a:p>
          <a:p>
            <a:pPr lvl="0">
              <a:defRPr/>
            </a:pPr>
            <a:r>
              <a:rPr lang="ko-KR"/>
              <a:t>• </a:t>
            </a:r>
            <a:r>
              <a:rPr lang="ko-KR" altLang="en-US"/>
              <a:t>초기 탐지·사용자 경고 중심의 경량 악성 행위 탐지 시스템으로 활용 가능</a:t>
            </a:r>
            <a:endParaRPr lang="ko-KR" altLang="en-US"/>
          </a:p>
          <a:p>
            <a:pPr lvl="0">
              <a:defRPr/>
            </a:pP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289866845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191262" y="476631"/>
            <a:ext cx="5102717" cy="56921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3200" b="1">
                <a:solidFill>
                  <a:srgbClr val="3a3c84"/>
                </a:solidFill>
              </a:rPr>
              <a:t>한계점 및 향후 연구방향</a:t>
            </a:r>
            <a:endParaRPr lang="ko-KR" altLang="en-US" sz="3200" b="1">
              <a:solidFill>
                <a:srgbClr val="3a3c84"/>
              </a:solidFill>
            </a:endParaRPr>
          </a:p>
        </p:txBody>
      </p:sp>
      <p:cxnSp>
        <p:nvCxnSpPr>
          <p:cNvPr id="3" name="선 2"/>
          <p:cNvCxnSpPr/>
          <p:nvPr/>
        </p:nvCxnSpPr>
        <p:spPr>
          <a:xfrm flipV="1">
            <a:off x="4839511" y="713362"/>
            <a:ext cx="6890425" cy="20266"/>
          </a:xfrm>
          <a:prstGeom prst="line">
            <a:avLst/>
          </a:prstGeom>
          <a:ln>
            <a:solidFill>
              <a:srgbClr val="dfe6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"/>
          <p:cNvGrpSpPr/>
          <p:nvPr/>
        </p:nvGrpSpPr>
        <p:grpSpPr>
          <a:xfrm rot="0">
            <a:off x="943841" y="1632239"/>
            <a:ext cx="10304317" cy="4784147"/>
            <a:chOff x="943841" y="1632239"/>
            <a:chExt cx="10304317" cy="4784147"/>
          </a:xfrm>
        </p:grpSpPr>
        <p:sp>
          <p:nvSpPr>
            <p:cNvPr id="13" name="직사각형 12"/>
            <p:cNvSpPr/>
            <p:nvPr/>
          </p:nvSpPr>
          <p:spPr>
            <a:xfrm>
              <a:off x="943841" y="1632239"/>
              <a:ext cx="10304317" cy="4784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 lvl="0">
                <a:defRPr/>
              </a:pPr>
              <a:endParaRPr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957696" y="1636568"/>
              <a:ext cx="5212589" cy="5141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spAutoFit/>
            </a:bodyPr>
            <a:p>
              <a:pPr lvl="0" algn="ctr">
                <a:defRPr/>
              </a:pPr>
              <a:r>
                <a:rPr lang="ko-KR" altLang="en-US" sz="2800" b="1">
                  <a:solidFill>
                    <a:srgbClr val="3a3c84"/>
                  </a:solidFill>
                </a:rPr>
                <a:t>한계점</a:t>
              </a:r>
              <a:endParaRPr lang="ko-KR" altLang="en-US" sz="2800" b="1">
                <a:solidFill>
                  <a:srgbClr val="3a3c84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115050" y="1636568"/>
              <a:ext cx="5113884" cy="514177"/>
            </a:xfrm>
            <a:prstGeom prst="rect">
              <a:avLst/>
            </a:prstGeom>
            <a:solidFill>
              <a:srgbClr val="3a3c84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spAutoFit/>
            </a:bodyPr>
            <a:p>
              <a:pPr lvl="0" algn="ctr">
                <a:defRPr/>
              </a:pPr>
              <a:r>
                <a:rPr lang="ko-KR" altLang="en-US" sz="2800" b="1"/>
                <a:t>향후 연구 방향</a:t>
              </a:r>
              <a:endParaRPr lang="ko-KR" altLang="en-US" sz="2800" b="1"/>
            </a:p>
          </p:txBody>
        </p:sp>
      </p:grpSp>
      <p:cxnSp>
        <p:nvCxnSpPr>
          <p:cNvPr id="18" name="선 17"/>
          <p:cNvCxnSpPr>
            <a:endCxn id="13" idx="2"/>
          </p:cNvCxnSpPr>
          <p:nvPr/>
        </p:nvCxnSpPr>
        <p:spPr>
          <a:xfrm rot="16200000" flipH="1" flipV="1">
            <a:off x="3996175" y="4316554"/>
            <a:ext cx="4199656" cy="7"/>
          </a:xfrm>
          <a:prstGeom prst="line">
            <a:avLst/>
          </a:prstGeom>
          <a:ln>
            <a:solidFill>
              <a:srgbClr val="8585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가로 글상자 18"/>
          <p:cNvSpPr txBox="1"/>
          <p:nvPr/>
        </p:nvSpPr>
        <p:spPr>
          <a:xfrm>
            <a:off x="1052079" y="2346614"/>
            <a:ext cx="4827443" cy="3014056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en-US" altLang="ko-KR" sz="2400">
                <a:latin typeface="맑은 고딕"/>
              </a:rPr>
              <a:t>Rule </a:t>
            </a:r>
            <a:r>
              <a:rPr lang="ko-KR" altLang="en-US" sz="2400">
                <a:latin typeface="맑은 고딕"/>
              </a:rPr>
              <a:t>기반 </a:t>
            </a:r>
            <a:r>
              <a:rPr lang="en-US" altLang="ko-KR" sz="2400">
                <a:latin typeface="맑은 고딕"/>
              </a:rPr>
              <a:t>weak</a:t>
            </a:r>
            <a:r>
              <a:rPr lang="ko-KR" altLang="en-US" sz="2400">
                <a:latin typeface="맑은 고딕"/>
              </a:rPr>
              <a:t> </a:t>
            </a:r>
            <a:r>
              <a:rPr lang="en-US" altLang="ko-KR" sz="2400">
                <a:latin typeface="맑은 고딕"/>
              </a:rPr>
              <a:t>labeling</a:t>
            </a:r>
            <a:r>
              <a:rPr lang="ko-KR" altLang="en-US" sz="2400">
                <a:latin typeface="맑은 고딕"/>
              </a:rPr>
              <a:t>으로  인한 라벨 정확도 한계</a:t>
            </a:r>
            <a:endParaRPr lang="ko-KR" altLang="en-US" sz="2400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endParaRPr lang="ko-KR" altLang="en-US" sz="24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400"/>
              <a:t>행위 기반 </a:t>
            </a:r>
            <a:r>
              <a:rPr lang="en-US" altLang="ko-KR" sz="2400"/>
              <a:t>feature</a:t>
            </a:r>
            <a:r>
              <a:rPr lang="ko-KR" altLang="en-US" sz="2400"/>
              <a:t>만 사용하여    정교한 악성 코드 식별에 한계</a:t>
            </a:r>
            <a:endParaRPr lang="ko-KR" altLang="en-US" sz="2400"/>
          </a:p>
          <a:p>
            <a:pPr marL="0" lvl="0" indent="0">
              <a:buFont typeface="Arial"/>
              <a:buNone/>
              <a:defRPr/>
            </a:pPr>
            <a:endParaRPr lang="ko-KR" altLang="en-US" sz="24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400"/>
              <a:t>고정 임계값 기반 판단으로 상황별 대응에 제약</a:t>
            </a:r>
            <a:endParaRPr lang="ko-KR" altLang="en-US" sz="2400"/>
          </a:p>
        </p:txBody>
      </p:sp>
      <p:sp>
        <p:nvSpPr>
          <p:cNvPr id="20" name="가로 글상자 19"/>
          <p:cNvSpPr txBox="1"/>
          <p:nvPr/>
        </p:nvSpPr>
        <p:spPr>
          <a:xfrm>
            <a:off x="6279572" y="2368262"/>
            <a:ext cx="4356768" cy="3011458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ko-KR" altLang="en-US" sz="2400"/>
              <a:t>라벨 품질 개선을 위한 추가 검증 데이터 확보</a:t>
            </a:r>
            <a:endParaRPr lang="ko-KR" altLang="en-US" sz="2400"/>
          </a:p>
          <a:p>
            <a:pPr marL="0" lvl="0" indent="0">
              <a:buFont typeface="Arial"/>
              <a:buNone/>
              <a:defRPr/>
            </a:pPr>
            <a:endParaRPr lang="ko-KR" altLang="en-US" sz="24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400">
                <a:latin typeface="맑은 고딕"/>
              </a:rPr>
              <a:t>시계열 기반 모델 및 </a:t>
            </a:r>
            <a:r>
              <a:rPr lang="en-US" altLang="ko-KR" sz="2400">
                <a:latin typeface="맑은 고딕"/>
              </a:rPr>
              <a:t>Feature </a:t>
            </a:r>
            <a:r>
              <a:rPr lang="ko-KR" altLang="en-US" sz="2400">
                <a:latin typeface="맑은 고딕"/>
              </a:rPr>
              <a:t>확장</a:t>
            </a:r>
            <a:endParaRPr lang="ko-KR" altLang="en-US" sz="2400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endParaRPr lang="ko-KR" altLang="en-US" sz="2400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400"/>
              <a:t>위험도 기반 동적 임계값 적용 전략 고도화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845300125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704771" y="2518738"/>
            <a:ext cx="6782457" cy="91026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5400" b="1">
                <a:solidFill>
                  <a:srgbClr val="203a7b"/>
                </a:solidFill>
              </a:rPr>
              <a:t>감사합니다</a:t>
            </a:r>
            <a:endParaRPr lang="ko-KR" altLang="en-US" sz="5400" b="1">
              <a:solidFill>
                <a:srgbClr val="203a7b"/>
              </a:solidFill>
            </a:endParaRPr>
          </a:p>
        </p:txBody>
      </p:sp>
      <p:sp>
        <p:nvSpPr>
          <p:cNvPr id="3" name="가로 글상자 2"/>
          <p:cNvSpPr txBox="1"/>
          <p:nvPr/>
        </p:nvSpPr>
        <p:spPr>
          <a:xfrm>
            <a:off x="4938219" y="1811392"/>
            <a:ext cx="2085647" cy="434603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300" b="1">
                <a:solidFill>
                  <a:srgbClr val="203a7b"/>
                </a:solidFill>
                <a:latin typeface="맑은 고딕"/>
              </a:rPr>
              <a:t>Thank you</a:t>
            </a:r>
            <a:endParaRPr lang="en-US" altLang="ko-KR" sz="2300" b="1">
              <a:solidFill>
                <a:srgbClr val="203a7b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5386467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629</ep:Words>
  <ep:PresentationFormat>화면 슬라이드 쇼(4:3)</ep:PresentationFormat>
  <ep:Paragraphs>252</ep:Paragraphs>
  <ep:Slides>16</ep:Slides>
  <ep:Notes>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2026-01-26T02:32:08.422</dcterms:created>
  <dc:creator>admin</dc:creator>
  <cp:lastModifiedBy>admin</cp:lastModifiedBy>
  <dcterms:modified xsi:type="dcterms:W3CDTF">2026-01-28T06:27:03.009</dcterms:modified>
  <cp:revision>209</cp:revision>
  <cp:version>1000.0000.01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